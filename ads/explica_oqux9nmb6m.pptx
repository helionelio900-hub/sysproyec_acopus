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13"/>
  </p:notesMasterIdLst>
  <p:sldIdLst>
    <p:sldId id="257" r:id="rId2"/>
    <p:sldId id="258" r:id="rId3"/>
    <p:sldId id="268" r:id="rId4"/>
    <p:sldId id="317" r:id="rId5"/>
    <p:sldId id="318" r:id="rId6"/>
    <p:sldId id="341" r:id="rId7"/>
    <p:sldId id="319" r:id="rId8"/>
    <p:sldId id="337" r:id="rId9"/>
    <p:sldId id="338" r:id="rId10"/>
    <p:sldId id="339" r:id="rId11"/>
    <p:sldId id="340" r:id="rId12"/>
  </p:sldIdLst>
  <p:sldSz cx="12193588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38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B5CC6F-4D02-4986-BC5A-4B726585F33F}">
  <a:tblStyle styleId="{72B5CC6F-4D02-4986-BC5A-4B726585F33F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8d205803a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3c8d205803a_1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g3c8d205803a_1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1</a:t>
            </a:fld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8d205803a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8d205803a_0_2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g3c8d205803a_0_2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2</a:t>
            </a:fld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8d205803a_0_2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3c8d205803a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8992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5783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0510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2790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32031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94847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80362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2412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50" y="-42525"/>
            <a:ext cx="12267550" cy="690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026384" y="1744327"/>
            <a:ext cx="9139800" cy="2201700"/>
          </a:xfrm>
          <a:prstGeom prst="rect">
            <a:avLst/>
          </a:prstGeom>
        </p:spPr>
        <p:txBody>
          <a:bodyPr spcFirstLastPara="1" wrap="square" lIns="98050" tIns="98050" rIns="98050" bIns="980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5478"/>
              <a:buNone/>
              <a:defRPr sz="5477" b="1">
                <a:solidFill>
                  <a:srgbClr val="351C7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2pPr>
            <a:lvl3pPr lvl="2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3pPr>
            <a:lvl4pPr lvl="3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4pPr>
            <a:lvl5pPr lvl="4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5pPr>
            <a:lvl6pPr lvl="5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6pPr>
            <a:lvl7pPr lvl="6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7pPr>
            <a:lvl8pPr lvl="7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8pPr>
            <a:lvl9pPr lvl="8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026375" y="3985524"/>
            <a:ext cx="9139800" cy="850200"/>
          </a:xfrm>
          <a:prstGeom prst="rect">
            <a:avLst/>
          </a:prstGeom>
        </p:spPr>
        <p:txBody>
          <a:bodyPr spcFirstLastPara="1" wrap="square" lIns="98050" tIns="98050" rIns="98050" bIns="980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" y="119275"/>
            <a:ext cx="816600" cy="6623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19201" y="119275"/>
            <a:ext cx="2158258" cy="73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415641" y="2867800"/>
            <a:ext cx="113619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415641" y="593367"/>
            <a:ext cx="1136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1pPr>
            <a:lvl2pPr lvl="1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2pPr>
            <a:lvl3pPr lvl="2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3pPr>
            <a:lvl4pPr lvl="3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4pPr>
            <a:lvl5pPr lvl="4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5pPr>
            <a:lvl6pPr lvl="5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6pPr>
            <a:lvl7pPr lvl="6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7pPr>
            <a:lvl8pPr lvl="7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8pPr>
            <a:lvl9pPr lvl="8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415641" y="1536633"/>
            <a:ext cx="113619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1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47141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2pPr>
            <a:lvl3pPr marL="1371600" lvl="2" indent="-347141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3pPr>
            <a:lvl4pPr marL="1828800" lvl="3" indent="-347141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4pPr>
            <a:lvl5pPr marL="2286000" lvl="4" indent="-347141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5pPr>
            <a:lvl6pPr marL="2743200" lvl="5" indent="-347141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6pPr>
            <a:lvl7pPr marL="3200400" lvl="6" indent="-347141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7pPr>
            <a:lvl8pPr marL="3657600" lvl="7" indent="-347141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8pPr>
            <a:lvl9pPr marL="4114800" lvl="8" indent="-347141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15641" y="593367"/>
            <a:ext cx="1136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1pPr>
            <a:lvl2pPr lvl="1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2pPr>
            <a:lvl3pPr lvl="2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3pPr>
            <a:lvl4pPr lvl="3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4pPr>
            <a:lvl5pPr lvl="4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5pPr>
            <a:lvl6pPr lvl="5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6pPr>
            <a:lvl7pPr lvl="6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7pPr>
            <a:lvl8pPr lvl="7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8pPr>
            <a:lvl9pPr lvl="8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15641" y="1536633"/>
            <a:ext cx="5333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7141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1pPr>
            <a:lvl2pPr marL="914400" lvl="1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6443834" y="1536633"/>
            <a:ext cx="5333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7141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1pPr>
            <a:lvl2pPr marL="914400" lvl="1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415641" y="593367"/>
            <a:ext cx="1136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1pPr>
            <a:lvl2pPr lvl="1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2pPr>
            <a:lvl3pPr lvl="2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3pPr>
            <a:lvl4pPr lvl="3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4pPr>
            <a:lvl5pPr lvl="4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5pPr>
            <a:lvl6pPr lvl="5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6pPr>
            <a:lvl7pPr lvl="6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7pPr>
            <a:lvl8pPr lvl="7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8pPr>
            <a:lvl9pPr lvl="8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415641" y="740800"/>
            <a:ext cx="37443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415641" y="1852800"/>
            <a:ext cx="37443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653731" y="600200"/>
            <a:ext cx="84912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6096600" y="-167"/>
            <a:ext cx="60966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354035" y="1644233"/>
            <a:ext cx="53940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354035" y="3737433"/>
            <a:ext cx="53940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6586648" y="965433"/>
            <a:ext cx="51165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1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47141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2pPr>
            <a:lvl3pPr marL="1371600" lvl="2" indent="-347141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3pPr>
            <a:lvl4pPr marL="1828800" lvl="3" indent="-347141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4pPr>
            <a:lvl5pPr marL="2286000" lvl="4" indent="-347141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5pPr>
            <a:lvl6pPr marL="2743200" lvl="5" indent="-347141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6pPr>
            <a:lvl7pPr marL="3200400" lvl="6" indent="-347141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7pPr>
            <a:lvl8pPr marL="3657600" lvl="7" indent="-347141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8pPr>
            <a:lvl9pPr marL="4114800" lvl="8" indent="-347141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415641" y="5640767"/>
            <a:ext cx="79992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415641" y="1474833"/>
            <a:ext cx="113619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415641" y="4202967"/>
            <a:ext cx="113619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1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47141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2pPr>
            <a:lvl3pPr marL="1371600" lvl="2" indent="-347141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3pPr>
            <a:lvl4pPr marL="1828800" lvl="3" indent="-347141" algn="ctr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4pPr>
            <a:lvl5pPr marL="2286000" lvl="4" indent="-347141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5pPr>
            <a:lvl6pPr marL="2743200" lvl="5" indent="-347141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6pPr>
            <a:lvl7pPr marL="3200400" lvl="6" indent="-347141" algn="ctr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7pPr>
            <a:lvl8pPr marL="3657600" lvl="7" indent="-347141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8pPr>
            <a:lvl9pPr marL="4114800" lvl="8" indent="-347141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 1">
  <p:cSld name="SECTION_HEADER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1"/>
            <a:ext cx="12193200" cy="6858000"/>
          </a:xfrm>
          <a:prstGeom prst="rect">
            <a:avLst/>
          </a:prstGeom>
          <a:solidFill>
            <a:srgbClr val="0035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1932" y="1709738"/>
            <a:ext cx="105165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ontserrat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831932" y="4589463"/>
            <a:ext cx="105165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dt" idx="10"/>
          </p:nvPr>
        </p:nvSpPr>
        <p:spPr>
          <a:xfrm>
            <a:off x="838283" y="6356350"/>
            <a:ext cx="2743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ftr" idx="11"/>
          </p:nvPr>
        </p:nvSpPr>
        <p:spPr>
          <a:xfrm>
            <a:off x="4038997" y="6356350"/>
            <a:ext cx="4115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611448" y="6356350"/>
            <a:ext cx="2743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838282" y="365125"/>
            <a:ext cx="10516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6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838282" y="1825625"/>
            <a:ext cx="105165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838283" y="6356350"/>
            <a:ext cx="2743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4038997" y="6356350"/>
            <a:ext cx="4115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611448" y="6356350"/>
            <a:ext cx="2743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11804280" y="0"/>
            <a:ext cx="388883" cy="1980910"/>
          </a:xfrm>
          <a:custGeom>
            <a:avLst/>
            <a:gdLst/>
            <a:ahLst/>
            <a:cxnLst/>
            <a:rect l="l" t="t" r="r" b="b"/>
            <a:pathLst>
              <a:path w="388883" h="1980910" extrusionOk="0">
                <a:moveTo>
                  <a:pt x="0" y="0"/>
                </a:moveTo>
                <a:lnTo>
                  <a:pt x="388883" y="0"/>
                </a:lnTo>
                <a:lnTo>
                  <a:pt x="388883" y="1980910"/>
                </a:lnTo>
                <a:lnTo>
                  <a:pt x="338490" y="1975830"/>
                </a:lnTo>
                <a:cubicBezTo>
                  <a:pt x="145314" y="1936301"/>
                  <a:pt x="0" y="1765379"/>
                  <a:pt x="0" y="1560517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2667263" y="6342881"/>
            <a:ext cx="6858000" cy="515119"/>
          </a:xfrm>
          <a:custGeom>
            <a:avLst/>
            <a:gdLst/>
            <a:ahLst/>
            <a:cxnLst/>
            <a:rect l="l" t="t" r="r" b="b"/>
            <a:pathLst>
              <a:path w="6858000" h="515119" extrusionOk="0">
                <a:moveTo>
                  <a:pt x="423926" y="0"/>
                </a:moveTo>
                <a:lnTo>
                  <a:pt x="6434074" y="0"/>
                </a:lnTo>
                <a:cubicBezTo>
                  <a:pt x="6668202" y="0"/>
                  <a:pt x="6858000" y="189798"/>
                  <a:pt x="6858000" y="423926"/>
                </a:cubicBezTo>
                <a:lnTo>
                  <a:pt x="6858000" y="515119"/>
                </a:lnTo>
                <a:lnTo>
                  <a:pt x="0" y="515119"/>
                </a:lnTo>
                <a:lnTo>
                  <a:pt x="0" y="423926"/>
                </a:lnTo>
                <a:cubicBezTo>
                  <a:pt x="0" y="189798"/>
                  <a:pt x="189798" y="0"/>
                  <a:pt x="423926" y="0"/>
                </a:cubicBezTo>
                <a:close/>
              </a:path>
            </a:pathLst>
          </a:custGeom>
          <a:solidFill>
            <a:srgbClr val="0035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41" y="593367"/>
            <a:ext cx="113619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3434"/>
              <a:buFont typeface="Montserrat"/>
              <a:buNone/>
              <a:defRPr sz="3433" b="1">
                <a:solidFill>
                  <a:srgbClr val="351C7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41" y="1536633"/>
            <a:ext cx="11361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1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venir"/>
              <a:buChar char="●"/>
              <a:defRPr sz="24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○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■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●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○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■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lvl="6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●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lvl="7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○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lvl="8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■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/>
        </p:nvSpPr>
        <p:spPr>
          <a:xfrm>
            <a:off x="1802287" y="5814737"/>
            <a:ext cx="4294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strike="noStrike" dirty="0">
                <a:solidFill>
                  <a:srgbClr val="003567"/>
                </a:solidFill>
                <a:latin typeface="Avenir"/>
                <a:ea typeface="Avenir"/>
                <a:cs typeface="Avenir"/>
                <a:sym typeface="Avenir"/>
              </a:rPr>
              <a:t>EP </a:t>
            </a:r>
            <a:r>
              <a:rPr lang="es-419" sz="1600" b="1" dirty="0">
                <a:solidFill>
                  <a:srgbClr val="003567"/>
                </a:solidFill>
                <a:latin typeface="Avenir"/>
                <a:ea typeface="Avenir"/>
                <a:cs typeface="Avenir"/>
                <a:sym typeface="Avenir"/>
              </a:rPr>
              <a:t>INGENIERÍA</a:t>
            </a:r>
            <a:r>
              <a:rPr lang="es-419" sz="1600" b="1" strike="noStrike" dirty="0">
                <a:solidFill>
                  <a:srgbClr val="00356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s-419" sz="1600" b="1" dirty="0">
                <a:solidFill>
                  <a:srgbClr val="003567"/>
                </a:solidFill>
                <a:latin typeface="Avenir"/>
                <a:ea typeface="Avenir"/>
                <a:cs typeface="Avenir"/>
                <a:sym typeface="Avenir"/>
              </a:rPr>
              <a:t>DE SISTEMAS</a:t>
            </a:r>
            <a:endParaRPr sz="1600" b="1" strike="noStrike" dirty="0">
              <a:solidFill>
                <a:srgbClr val="00356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7664910" y="5923510"/>
            <a:ext cx="311400" cy="3114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7976251" y="5918472"/>
            <a:ext cx="26199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dirty="0">
                <a:solidFill>
                  <a:srgbClr val="003567"/>
                </a:solidFill>
                <a:latin typeface="Avenir"/>
                <a:sym typeface="Avenir"/>
              </a:rPr>
              <a:t>MG. NÉLIDA HUAMÁN PACO</a:t>
            </a:r>
            <a:endParaRPr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ctrTitle"/>
          </p:nvPr>
        </p:nvSpPr>
        <p:spPr>
          <a:xfrm>
            <a:off x="790575" y="1737744"/>
            <a:ext cx="10868025" cy="294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s-ES" sz="6000" b="1" dirty="0">
                <a:solidFill>
                  <a:srgbClr val="003567"/>
                </a:solidFill>
              </a:rPr>
              <a:t>Análisis</a:t>
            </a:r>
            <a:r>
              <a:rPr lang="es-ES" sz="6000" dirty="0">
                <a:solidFill>
                  <a:srgbClr val="003567"/>
                </a:solidFill>
              </a:rPr>
              <a:t> </a:t>
            </a:r>
            <a:r>
              <a:rPr lang="es-ES" sz="6000" b="1" dirty="0">
                <a:solidFill>
                  <a:srgbClr val="003567"/>
                </a:solidFill>
              </a:rPr>
              <a:t>y Diseño</a:t>
            </a:r>
            <a:br>
              <a:rPr lang="es-ES" sz="6000" b="1" dirty="0">
                <a:solidFill>
                  <a:srgbClr val="003567"/>
                </a:solidFill>
              </a:rPr>
            </a:br>
            <a:r>
              <a:rPr lang="es-ES" sz="6000" b="1" dirty="0">
                <a:solidFill>
                  <a:srgbClr val="003567"/>
                </a:solidFill>
              </a:rPr>
              <a:t>	de Sistemas	</a:t>
            </a:r>
            <a:br>
              <a:rPr lang="es-ES" sz="6000" b="1" dirty="0">
                <a:solidFill>
                  <a:srgbClr val="003567"/>
                </a:solidFill>
              </a:rPr>
            </a:br>
            <a:r>
              <a:rPr lang="es-ES" sz="6000" b="1" dirty="0">
                <a:solidFill>
                  <a:srgbClr val="003567"/>
                </a:solidFill>
              </a:rPr>
              <a:t>de</a:t>
            </a:r>
            <a:br>
              <a:rPr lang="es-ES" sz="6000" b="1" dirty="0">
                <a:solidFill>
                  <a:srgbClr val="003567"/>
                </a:solidFill>
              </a:rPr>
            </a:br>
            <a:r>
              <a:rPr lang="es-ES" sz="6000" b="1" dirty="0">
                <a:solidFill>
                  <a:srgbClr val="003567"/>
                </a:solidFill>
              </a:rPr>
              <a:t>Información</a:t>
            </a:r>
            <a:endParaRPr lang="es-ES" sz="6000" b="0" i="0" u="none" strike="noStrike" cap="none" dirty="0">
              <a:solidFill>
                <a:srgbClr val="00356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1396110" y="5828385"/>
            <a:ext cx="311400" cy="3114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72A344A-CEF5-4636-0447-AE30FCA39C9A}"/>
              </a:ext>
            </a:extLst>
          </p:cNvPr>
          <p:cNvSpPr txBox="1"/>
          <p:nvPr/>
        </p:nvSpPr>
        <p:spPr>
          <a:xfrm>
            <a:off x="3029437" y="4679797"/>
            <a:ext cx="61341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800" b="1" i="0" u="none" strike="noStrike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Sesión</a:t>
            </a: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03</a:t>
            </a:r>
            <a:endParaRPr lang="en-US" sz="2800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1219165" y="2363700"/>
            <a:ext cx="9906035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s-ES" sz="6000" b="1" dirty="0">
                <a:solidFill>
                  <a:schemeClr val="lt1"/>
                </a:solidFill>
                <a:latin typeface="Montserrat"/>
              </a:rPr>
              <a:t>Diseño Estructural y Principios SOLID</a:t>
            </a:r>
            <a:r>
              <a:rPr lang="en-US" sz="6000" b="1" dirty="0">
                <a:solidFill>
                  <a:schemeClr val="lt1"/>
                </a:solidFill>
                <a:latin typeface="Montserrat"/>
              </a:rPr>
              <a:t> </a:t>
            </a:r>
            <a:endParaRPr lang="es-419" sz="40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/>
          <p:nvPr/>
        </p:nvSpPr>
        <p:spPr>
          <a:xfrm>
            <a:off x="2650002" y="3105834"/>
            <a:ext cx="68931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EXPLICA</a:t>
            </a:r>
            <a:endParaRPr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7" name="Google Shape;197;p31" descr="Interfaz de usuario gráfica, Aplicación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 l="4670" t="53458" r="76561" b="26591"/>
          <a:stretch/>
        </p:blipFill>
        <p:spPr>
          <a:xfrm>
            <a:off x="5434025" y="1550594"/>
            <a:ext cx="1325150" cy="1408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/>
        </p:nvSpPr>
        <p:spPr>
          <a:xfrm>
            <a:off x="3792600" y="5577137"/>
            <a:ext cx="90345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>
              <a:solidFill>
                <a:schemeClr val="tx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1" name="Google Shape;191;p30"/>
          <p:cNvSpPr/>
          <p:nvPr/>
        </p:nvSpPr>
        <p:spPr>
          <a:xfrm>
            <a:off x="2377554" y="162410"/>
            <a:ext cx="68931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s-ES" sz="3600" b="1" dirty="0">
                <a:solidFill>
                  <a:srgbClr val="003567"/>
                </a:solidFill>
                <a:latin typeface="Montserrat"/>
                <a:ea typeface="Montserrat"/>
                <a:cs typeface="Montserrat"/>
                <a:sym typeface="Montserrat"/>
              </a:rPr>
              <a:t>Ubicación del Curso</a:t>
            </a:r>
            <a:endParaRPr lang="es-ES"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8E6CB7A-8B60-4879-7C2B-903A3B4C7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543" y="1111915"/>
            <a:ext cx="3314032" cy="446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896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/>
        </p:nvSpPr>
        <p:spPr>
          <a:xfrm>
            <a:off x="3792600" y="5577137"/>
            <a:ext cx="90345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>
              <a:solidFill>
                <a:schemeClr val="tx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1" name="Google Shape;191;p30"/>
          <p:cNvSpPr/>
          <p:nvPr/>
        </p:nvSpPr>
        <p:spPr>
          <a:xfrm>
            <a:off x="1432188" y="49152"/>
            <a:ext cx="9236251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3600" b="1" dirty="0" err="1">
                <a:solidFill>
                  <a:srgbClr val="003567"/>
                </a:solidFill>
                <a:latin typeface="Montserrat"/>
              </a:rPr>
              <a:t>Arquitectura</a:t>
            </a:r>
            <a:r>
              <a:rPr lang="en-US" sz="3600" b="1" dirty="0">
                <a:solidFill>
                  <a:srgbClr val="003567"/>
                </a:solidFill>
                <a:latin typeface="Montserrat"/>
              </a:rPr>
              <a:t> de la </a:t>
            </a:r>
            <a:r>
              <a:rPr lang="en-US" sz="3600" b="1" dirty="0" err="1">
                <a:solidFill>
                  <a:srgbClr val="003567"/>
                </a:solidFill>
                <a:latin typeface="Montserrat"/>
              </a:rPr>
              <a:t>unidad</a:t>
            </a:r>
            <a:r>
              <a:rPr lang="en-US" sz="3600" b="1" dirty="0">
                <a:solidFill>
                  <a:srgbClr val="003567"/>
                </a:solidFill>
                <a:latin typeface="Montserrat"/>
              </a:rPr>
              <a:t> y </a:t>
            </a:r>
            <a:r>
              <a:rPr lang="en-US" sz="3600" b="1" dirty="0" err="1">
                <a:solidFill>
                  <a:srgbClr val="003567"/>
                </a:solidFill>
                <a:latin typeface="Montserrat"/>
              </a:rPr>
              <a:t>sesion</a:t>
            </a:r>
            <a:endParaRPr lang="en-US" sz="3600" b="1" dirty="0">
              <a:solidFill>
                <a:srgbClr val="003567"/>
              </a:solidFill>
              <a:latin typeface="Montserrat"/>
            </a:endParaRPr>
          </a:p>
          <a:p>
            <a:pPr algn="ctr"/>
            <a:r>
              <a:rPr lang="es-ES" sz="3600" b="1" dirty="0">
                <a:solidFill>
                  <a:srgbClr val="00356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s-ES"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50" name="Picture 2" descr="gif leyendo">
            <a:extLst>
              <a:ext uri="{FF2B5EF4-FFF2-40B4-BE49-F238E27FC236}">
                <a16:creationId xmlns:a16="http://schemas.microsoft.com/office/drawing/2014/main" id="{0CDD9AD2-B7DC-1A4E-FF38-FC5C574E9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7454" y="5777171"/>
            <a:ext cx="1241971" cy="993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0ECFBB7-3924-FE42-2315-E2FE46F5E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869" y="2020103"/>
            <a:ext cx="10642802" cy="290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412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/>
        </p:nvSpPr>
        <p:spPr>
          <a:xfrm>
            <a:off x="3792600" y="5577137"/>
            <a:ext cx="90345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>
              <a:solidFill>
                <a:schemeClr val="tx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1" name="Google Shape;191;p30"/>
          <p:cNvSpPr/>
          <p:nvPr/>
        </p:nvSpPr>
        <p:spPr>
          <a:xfrm>
            <a:off x="1432188" y="49152"/>
            <a:ext cx="9236251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3600" b="1" dirty="0">
                <a:solidFill>
                  <a:srgbClr val="003567"/>
                </a:solidFill>
                <a:latin typeface="Montserrat"/>
              </a:rPr>
              <a:t>RESUMEN</a:t>
            </a:r>
          </a:p>
          <a:p>
            <a:pPr algn="ctr"/>
            <a:r>
              <a:rPr lang="es-ES" sz="3600" b="1" dirty="0">
                <a:solidFill>
                  <a:srgbClr val="00356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s-ES"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50" name="Picture 2" descr="gif leyendo">
            <a:extLst>
              <a:ext uri="{FF2B5EF4-FFF2-40B4-BE49-F238E27FC236}">
                <a16:creationId xmlns:a16="http://schemas.microsoft.com/office/drawing/2014/main" id="{0CDD9AD2-B7DC-1A4E-FF38-FC5C574E9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7454" y="5777171"/>
            <a:ext cx="1241971" cy="993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6A594E4-6C9D-B1B2-16FC-7AA576973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6313" y="1577195"/>
            <a:ext cx="8151141" cy="350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44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/>
        </p:nvSpPr>
        <p:spPr>
          <a:xfrm>
            <a:off x="3792600" y="5577137"/>
            <a:ext cx="90345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>
              <a:solidFill>
                <a:schemeClr val="tx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1" name="Google Shape;191;p30"/>
          <p:cNvSpPr/>
          <p:nvPr/>
        </p:nvSpPr>
        <p:spPr>
          <a:xfrm>
            <a:off x="176566" y="557694"/>
            <a:ext cx="11272484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3600" b="1" dirty="0">
                <a:solidFill>
                  <a:srgbClr val="003567"/>
                </a:solidFill>
                <a:latin typeface="Montserrat"/>
              </a:rPr>
              <a:t>S – Single Responsibility Principle (Principio de </a:t>
            </a:r>
            <a:r>
              <a:rPr lang="en-US" sz="3600" b="1" dirty="0" err="1">
                <a:solidFill>
                  <a:srgbClr val="003567"/>
                </a:solidFill>
                <a:latin typeface="Montserrat"/>
              </a:rPr>
              <a:t>Responsabilidad</a:t>
            </a:r>
            <a:r>
              <a:rPr lang="en-US" sz="3600" b="1" dirty="0">
                <a:solidFill>
                  <a:srgbClr val="003567"/>
                </a:solidFill>
                <a:latin typeface="Montserrat"/>
              </a:rPr>
              <a:t> </a:t>
            </a:r>
            <a:r>
              <a:rPr lang="en-US" sz="3600" b="1" dirty="0" err="1">
                <a:solidFill>
                  <a:srgbClr val="003567"/>
                </a:solidFill>
                <a:latin typeface="Montserrat"/>
              </a:rPr>
              <a:t>Única</a:t>
            </a:r>
            <a:r>
              <a:rPr lang="en-US" sz="3600" b="1" dirty="0">
                <a:solidFill>
                  <a:srgbClr val="003567"/>
                </a:solidFill>
                <a:latin typeface="Montserrat"/>
              </a:rPr>
              <a:t>)  </a:t>
            </a:r>
          </a:p>
          <a:p>
            <a:pPr algn="ctr"/>
            <a:endParaRPr lang="en-US" sz="3600" b="1" dirty="0">
              <a:solidFill>
                <a:srgbClr val="003567"/>
              </a:solidFill>
              <a:latin typeface="Montserrat"/>
            </a:endParaRPr>
          </a:p>
          <a:p>
            <a:pPr algn="ctr"/>
            <a:r>
              <a:rPr lang="es-ES" sz="3600" b="1" dirty="0">
                <a:solidFill>
                  <a:srgbClr val="00356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s-ES"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A93119A-2D91-8E6A-C27A-ACB154FE9525}"/>
              </a:ext>
            </a:extLst>
          </p:cNvPr>
          <p:cNvSpPr txBox="1"/>
          <p:nvPr/>
        </p:nvSpPr>
        <p:spPr>
          <a:xfrm>
            <a:off x="1712118" y="2072015"/>
            <a:ext cx="92225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Una clase debe tener una sola razón para cambiar.</a:t>
            </a:r>
            <a:endParaRPr lang="en-US" sz="28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4DBED14-4B07-B9F1-6B3D-ED613AB67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233" y="3080868"/>
            <a:ext cx="4133731" cy="220985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A9561D1-DE1E-1972-DC66-CDEE2EAA9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200" y="2836871"/>
            <a:ext cx="3335976" cy="274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639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/>
        </p:nvSpPr>
        <p:spPr>
          <a:xfrm>
            <a:off x="3792600" y="5577137"/>
            <a:ext cx="90345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>
              <a:solidFill>
                <a:schemeClr val="tx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1" name="Google Shape;191;p30"/>
          <p:cNvSpPr/>
          <p:nvPr/>
        </p:nvSpPr>
        <p:spPr>
          <a:xfrm>
            <a:off x="109891" y="261298"/>
            <a:ext cx="11272484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s-ES" sz="3600" b="1" dirty="0">
                <a:solidFill>
                  <a:srgbClr val="003567"/>
                </a:solidFill>
                <a:latin typeface="Montserrat"/>
              </a:rPr>
              <a:t>O – Open/</a:t>
            </a:r>
            <a:r>
              <a:rPr lang="es-ES" sz="3600" b="1" dirty="0" err="1">
                <a:solidFill>
                  <a:srgbClr val="003567"/>
                </a:solidFill>
                <a:latin typeface="Montserrat"/>
              </a:rPr>
              <a:t>Closed</a:t>
            </a:r>
            <a:r>
              <a:rPr lang="es-ES" sz="3600" b="1" dirty="0">
                <a:solidFill>
                  <a:srgbClr val="003567"/>
                </a:solidFill>
                <a:latin typeface="Montserrat"/>
              </a:rPr>
              <a:t> </a:t>
            </a:r>
            <a:r>
              <a:rPr lang="es-ES" sz="3600" b="1" dirty="0" err="1">
                <a:solidFill>
                  <a:srgbClr val="003567"/>
                </a:solidFill>
                <a:latin typeface="Montserrat"/>
              </a:rPr>
              <a:t>Principle</a:t>
            </a:r>
            <a:r>
              <a:rPr lang="es-ES" sz="3600" b="1" dirty="0">
                <a:solidFill>
                  <a:srgbClr val="003567"/>
                </a:solidFill>
                <a:latin typeface="Montserrat"/>
              </a:rPr>
              <a:t> (Principio de Abierto/Cerrado)</a:t>
            </a:r>
            <a:r>
              <a:rPr lang="en-US" sz="3600" b="1" dirty="0">
                <a:solidFill>
                  <a:srgbClr val="003567"/>
                </a:solidFill>
                <a:latin typeface="Montserrat"/>
              </a:rPr>
              <a:t> </a:t>
            </a:r>
          </a:p>
          <a:p>
            <a:pPr algn="ctr"/>
            <a:endParaRPr lang="en-US" sz="3600" b="1" dirty="0">
              <a:solidFill>
                <a:srgbClr val="003567"/>
              </a:solidFill>
              <a:latin typeface="Montserrat"/>
            </a:endParaRPr>
          </a:p>
          <a:p>
            <a:pPr algn="ctr"/>
            <a:r>
              <a:rPr lang="es-ES" sz="3600" b="1" dirty="0">
                <a:solidFill>
                  <a:srgbClr val="00356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s-ES"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A93119A-2D91-8E6A-C27A-ACB154FE9525}"/>
              </a:ext>
            </a:extLst>
          </p:cNvPr>
          <p:cNvSpPr txBox="1"/>
          <p:nvPr/>
        </p:nvSpPr>
        <p:spPr>
          <a:xfrm>
            <a:off x="652065" y="1408794"/>
            <a:ext cx="108894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/>
              <a:t>Las clases deben estar abiertas para extenderse, pero cerradas para </a:t>
            </a:r>
            <a:r>
              <a:rPr lang="es-ES" sz="2000" dirty="0" err="1"/>
              <a:t>modificarse.En</a:t>
            </a:r>
            <a:r>
              <a:rPr lang="es-ES" sz="2000" dirty="0"/>
              <a:t> lugar de modificar una clase existente, se agregan nuevas funcionalidades mediante herencia o interfaces</a:t>
            </a:r>
            <a:endParaRPr lang="en-US" sz="2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D770A49-C1EB-E66B-E03A-4CB92A5E6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838" y="2485520"/>
            <a:ext cx="6377115" cy="329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650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/>
        </p:nvSpPr>
        <p:spPr>
          <a:xfrm>
            <a:off x="3792600" y="5577137"/>
            <a:ext cx="90345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>
              <a:solidFill>
                <a:schemeClr val="tx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1" name="Google Shape;191;p30"/>
          <p:cNvSpPr/>
          <p:nvPr/>
        </p:nvSpPr>
        <p:spPr>
          <a:xfrm>
            <a:off x="109891" y="261298"/>
            <a:ext cx="11272484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s-ES" sz="3600" b="1" dirty="0">
                <a:solidFill>
                  <a:srgbClr val="003567"/>
                </a:solidFill>
                <a:latin typeface="Montserrat"/>
              </a:rPr>
              <a:t>L – </a:t>
            </a:r>
            <a:r>
              <a:rPr lang="es-ES" sz="3600" b="1" dirty="0" err="1">
                <a:solidFill>
                  <a:srgbClr val="003567"/>
                </a:solidFill>
                <a:latin typeface="Montserrat"/>
              </a:rPr>
              <a:t>Liskov</a:t>
            </a:r>
            <a:r>
              <a:rPr lang="es-ES" sz="3600" b="1" dirty="0">
                <a:solidFill>
                  <a:srgbClr val="003567"/>
                </a:solidFill>
                <a:latin typeface="Montserrat"/>
              </a:rPr>
              <a:t> </a:t>
            </a:r>
            <a:r>
              <a:rPr lang="es-ES" sz="3600" b="1" dirty="0" err="1">
                <a:solidFill>
                  <a:srgbClr val="003567"/>
                </a:solidFill>
                <a:latin typeface="Montserrat"/>
              </a:rPr>
              <a:t>Substitution</a:t>
            </a:r>
            <a:r>
              <a:rPr lang="es-ES" sz="3600" b="1" dirty="0">
                <a:solidFill>
                  <a:srgbClr val="003567"/>
                </a:solidFill>
                <a:latin typeface="Montserrat"/>
              </a:rPr>
              <a:t> </a:t>
            </a:r>
            <a:r>
              <a:rPr lang="es-ES" sz="3600" b="1" dirty="0" err="1">
                <a:solidFill>
                  <a:srgbClr val="003567"/>
                </a:solidFill>
                <a:latin typeface="Montserrat"/>
              </a:rPr>
              <a:t>Principle</a:t>
            </a:r>
            <a:r>
              <a:rPr lang="es-ES" sz="3600" b="1" dirty="0">
                <a:solidFill>
                  <a:srgbClr val="003567"/>
                </a:solidFill>
                <a:latin typeface="Montserrat"/>
              </a:rPr>
              <a:t> (Principio de Sustitución de </a:t>
            </a:r>
            <a:r>
              <a:rPr lang="es-ES" sz="3600" b="1" dirty="0" err="1">
                <a:solidFill>
                  <a:srgbClr val="003567"/>
                </a:solidFill>
                <a:latin typeface="Montserrat"/>
              </a:rPr>
              <a:t>Liskov</a:t>
            </a:r>
            <a:r>
              <a:rPr lang="es-ES" sz="3600" b="1" dirty="0">
                <a:solidFill>
                  <a:srgbClr val="003567"/>
                </a:solidFill>
                <a:latin typeface="Montserrat"/>
              </a:rPr>
              <a:t>)</a:t>
            </a:r>
            <a:endParaRPr lang="en-US" sz="3600" b="1" dirty="0">
              <a:solidFill>
                <a:srgbClr val="003567"/>
              </a:solidFill>
              <a:latin typeface="Montserrat"/>
            </a:endParaRPr>
          </a:p>
          <a:p>
            <a:pPr algn="ctr"/>
            <a:r>
              <a:rPr lang="es-ES" sz="3600" b="1" dirty="0">
                <a:solidFill>
                  <a:srgbClr val="00356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s-ES"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A93119A-2D91-8E6A-C27A-ACB154FE9525}"/>
              </a:ext>
            </a:extLst>
          </p:cNvPr>
          <p:cNvSpPr txBox="1"/>
          <p:nvPr/>
        </p:nvSpPr>
        <p:spPr>
          <a:xfrm>
            <a:off x="652065" y="1408794"/>
            <a:ext cx="108894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/>
              <a:t>Una clase hija debe poder reemplazar a su clase padre sin alterar el comportamiento esperado.</a:t>
            </a:r>
            <a:endParaRPr lang="en-US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F3EB26E-56C0-5E5C-597A-A5613B519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35" y="2941225"/>
            <a:ext cx="5875529" cy="219475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748B4A2-385D-73AF-A64A-A85A3D687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927" y="2983138"/>
            <a:ext cx="3276884" cy="211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808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/>
        </p:nvSpPr>
        <p:spPr>
          <a:xfrm>
            <a:off x="3792600" y="5577137"/>
            <a:ext cx="90345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>
              <a:solidFill>
                <a:schemeClr val="tx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1" name="Google Shape;191;p30"/>
          <p:cNvSpPr/>
          <p:nvPr/>
        </p:nvSpPr>
        <p:spPr>
          <a:xfrm>
            <a:off x="109891" y="261298"/>
            <a:ext cx="11272484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s-ES" sz="3600" b="1" dirty="0">
                <a:solidFill>
                  <a:srgbClr val="003567"/>
                </a:solidFill>
                <a:latin typeface="Montserrat"/>
              </a:rPr>
              <a:t>I – Interface </a:t>
            </a:r>
            <a:r>
              <a:rPr lang="es-ES" sz="3600" b="1" dirty="0" err="1">
                <a:solidFill>
                  <a:srgbClr val="003567"/>
                </a:solidFill>
                <a:latin typeface="Montserrat"/>
              </a:rPr>
              <a:t>Segregation</a:t>
            </a:r>
            <a:r>
              <a:rPr lang="es-ES" sz="3600" b="1" dirty="0">
                <a:solidFill>
                  <a:srgbClr val="003567"/>
                </a:solidFill>
                <a:latin typeface="Montserrat"/>
              </a:rPr>
              <a:t> </a:t>
            </a:r>
            <a:r>
              <a:rPr lang="es-ES" sz="3600" b="1" dirty="0" err="1">
                <a:solidFill>
                  <a:srgbClr val="003567"/>
                </a:solidFill>
                <a:latin typeface="Montserrat"/>
              </a:rPr>
              <a:t>Principle</a:t>
            </a:r>
            <a:r>
              <a:rPr lang="es-ES" sz="3600" b="1" dirty="0">
                <a:solidFill>
                  <a:srgbClr val="003567"/>
                </a:solidFill>
                <a:latin typeface="Montserrat"/>
              </a:rPr>
              <a:t> (Principio de Segregación de Interfaces)</a:t>
            </a:r>
            <a:endParaRPr lang="en-US" sz="3600" b="1" dirty="0">
              <a:solidFill>
                <a:srgbClr val="003567"/>
              </a:solidFill>
              <a:latin typeface="Montserrat"/>
            </a:endParaRPr>
          </a:p>
          <a:p>
            <a:pPr algn="ctr"/>
            <a:r>
              <a:rPr lang="es-ES" sz="3600" b="1" dirty="0">
                <a:solidFill>
                  <a:srgbClr val="00356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s-ES"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A93119A-2D91-8E6A-C27A-ACB154FE9525}"/>
              </a:ext>
            </a:extLst>
          </p:cNvPr>
          <p:cNvSpPr txBox="1"/>
          <p:nvPr/>
        </p:nvSpPr>
        <p:spPr>
          <a:xfrm>
            <a:off x="652065" y="1408794"/>
            <a:ext cx="108894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/>
              <a:t>Los clientes no deben depender de métodos que no utilizan.Es mejor tener varias interfaces pequeñas que una muy grande.</a:t>
            </a:r>
            <a:endParaRPr lang="en-US" sz="2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7FCE5D9-B824-9321-36A5-95CB06B3B9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681"/>
          <a:stretch/>
        </p:blipFill>
        <p:spPr>
          <a:xfrm>
            <a:off x="1381777" y="2752730"/>
            <a:ext cx="4318364" cy="172191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50BAD2C-0E0E-5D82-474F-3649E259F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0470" y="2617976"/>
            <a:ext cx="3488606" cy="198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85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/>
        </p:nvSpPr>
        <p:spPr>
          <a:xfrm>
            <a:off x="3792600" y="5577137"/>
            <a:ext cx="90345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>
              <a:solidFill>
                <a:schemeClr val="tx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1" name="Google Shape;191;p30"/>
          <p:cNvSpPr/>
          <p:nvPr/>
        </p:nvSpPr>
        <p:spPr>
          <a:xfrm>
            <a:off x="109891" y="261298"/>
            <a:ext cx="11272484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s-ES" sz="3600" b="1" dirty="0">
                <a:solidFill>
                  <a:srgbClr val="003567"/>
                </a:solidFill>
                <a:latin typeface="Montserrat"/>
              </a:rPr>
              <a:t>D – </a:t>
            </a:r>
            <a:r>
              <a:rPr lang="es-ES" sz="3600" b="1" dirty="0" err="1">
                <a:solidFill>
                  <a:srgbClr val="003567"/>
                </a:solidFill>
                <a:latin typeface="Montserrat"/>
              </a:rPr>
              <a:t>Dependency</a:t>
            </a:r>
            <a:r>
              <a:rPr lang="es-ES" sz="3600" b="1" dirty="0">
                <a:solidFill>
                  <a:srgbClr val="003567"/>
                </a:solidFill>
                <a:latin typeface="Montserrat"/>
              </a:rPr>
              <a:t> </a:t>
            </a:r>
            <a:r>
              <a:rPr lang="es-ES" sz="3600" b="1" dirty="0" err="1">
                <a:solidFill>
                  <a:srgbClr val="003567"/>
                </a:solidFill>
                <a:latin typeface="Montserrat"/>
              </a:rPr>
              <a:t>Inversion</a:t>
            </a:r>
            <a:r>
              <a:rPr lang="es-ES" sz="3600" b="1" dirty="0">
                <a:solidFill>
                  <a:srgbClr val="003567"/>
                </a:solidFill>
                <a:latin typeface="Montserrat"/>
              </a:rPr>
              <a:t> </a:t>
            </a:r>
            <a:r>
              <a:rPr lang="es-ES" sz="3600" b="1" dirty="0" err="1">
                <a:solidFill>
                  <a:srgbClr val="003567"/>
                </a:solidFill>
                <a:latin typeface="Montserrat"/>
              </a:rPr>
              <a:t>Principle</a:t>
            </a:r>
            <a:r>
              <a:rPr lang="es-ES" sz="3600" b="1" dirty="0">
                <a:solidFill>
                  <a:srgbClr val="003567"/>
                </a:solidFill>
                <a:latin typeface="Montserrat"/>
              </a:rPr>
              <a:t> (Principio de Inversión de Dependencias) </a:t>
            </a:r>
            <a:r>
              <a:rPr lang="es-ES" sz="3600" b="1" dirty="0">
                <a:solidFill>
                  <a:srgbClr val="003567"/>
                </a:solidFill>
                <a:latin typeface="Montserrat"/>
                <a:sym typeface="Montserrat"/>
              </a:rPr>
              <a:t>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A93119A-2D91-8E6A-C27A-ACB154FE9525}"/>
              </a:ext>
            </a:extLst>
          </p:cNvPr>
          <p:cNvSpPr txBox="1"/>
          <p:nvPr/>
        </p:nvSpPr>
        <p:spPr>
          <a:xfrm>
            <a:off x="652065" y="1408794"/>
            <a:ext cx="108894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/>
              <a:t>Los módulos de alto nivel no deben depender de módulos de bajo nivel; ambos deben depender de abstracciones.En lugar de depender de una implementación concreta, se depende de una interfaz.</a:t>
            </a:r>
            <a:endParaRPr lang="en-US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69B968F-3791-8796-483C-B352163BE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47" y="2844773"/>
            <a:ext cx="4005450" cy="226839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E1B27AB-336F-DB9D-ED1B-94BEA4122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047" y="2608874"/>
            <a:ext cx="6729043" cy="33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89942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778</TotalTime>
  <Words>220</Words>
  <Application>Microsoft Office PowerPoint</Application>
  <PresentationFormat>Personalizado</PresentationFormat>
  <Paragraphs>30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Avenir</vt:lpstr>
      <vt:lpstr>Montserrat</vt:lpstr>
      <vt:lpstr>Calibri</vt:lpstr>
      <vt:lpstr>Simple Light</vt:lpstr>
      <vt:lpstr>Análisis y Diseño  de Sistemas  de Información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Prácticas Pre Profesionales EP Sistemas - Juliaca</cp:lastModifiedBy>
  <cp:revision>79</cp:revision>
  <dcterms:modified xsi:type="dcterms:W3CDTF">2026-08-24T15:00:04Z</dcterms:modified>
</cp:coreProperties>
</file>