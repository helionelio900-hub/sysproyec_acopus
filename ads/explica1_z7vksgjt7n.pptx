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1"/>
  </p:notesMasterIdLst>
  <p:sldIdLst>
    <p:sldId id="257" r:id="rId2"/>
    <p:sldId id="268" r:id="rId3"/>
    <p:sldId id="267" r:id="rId4"/>
    <p:sldId id="323" r:id="rId5"/>
    <p:sldId id="343" r:id="rId6"/>
    <p:sldId id="344" r:id="rId7"/>
    <p:sldId id="345" r:id="rId8"/>
    <p:sldId id="346" r:id="rId9"/>
    <p:sldId id="347" r:id="rId10"/>
  </p:sldIdLst>
  <p:sldSz cx="12193588" cy="6858000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B5CC6F-4D02-4986-BC5A-4B726585F33F}">
  <a:tblStyle styleId="{72B5CC6F-4D02-4986-BC5A-4B726585F33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80" d="100"/>
          <a:sy n="80" d="100"/>
        </p:scale>
        <p:origin x="54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8d205803a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c8d205803a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g3c8d205803a_1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8d205803a_0_2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c8d205803a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762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8939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7235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3789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8283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8d205803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c8d205803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2560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50" y="-42525"/>
            <a:ext cx="12267550" cy="69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026384" y="1744327"/>
            <a:ext cx="9139800" cy="2201700"/>
          </a:xfrm>
          <a:prstGeom prst="rect">
            <a:avLst/>
          </a:prstGeom>
        </p:spPr>
        <p:txBody>
          <a:bodyPr spcFirstLastPara="1" wrap="square" lIns="98050" tIns="98050" rIns="98050" bIns="98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5478"/>
              <a:buNone/>
              <a:defRPr sz="5477" b="1">
                <a:solidFill>
                  <a:srgbClr val="351C7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2pPr>
            <a:lvl3pPr lvl="2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3pPr>
            <a:lvl4pPr lvl="3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4pPr>
            <a:lvl5pPr lvl="4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5pPr>
            <a:lvl6pPr lvl="5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6pPr>
            <a:lvl7pPr lvl="6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7pPr>
            <a:lvl8pPr lvl="7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8pPr>
            <a:lvl9pPr lvl="8" algn="ctr">
              <a:spcBef>
                <a:spcPts val="0"/>
              </a:spcBef>
              <a:spcAft>
                <a:spcPts val="0"/>
              </a:spcAft>
              <a:buSzPts val="5478"/>
              <a:buNone/>
              <a:defRPr sz="5477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026375" y="3985524"/>
            <a:ext cx="9139800" cy="850200"/>
          </a:xfrm>
          <a:prstGeom prst="rect">
            <a:avLst/>
          </a:prstGeom>
        </p:spPr>
        <p:txBody>
          <a:bodyPr spcFirstLastPara="1" wrap="square" lIns="98050" tIns="98050" rIns="98050" bIns="98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3"/>
              <a:buNone/>
              <a:defRPr sz="2903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" y="119275"/>
            <a:ext cx="816600" cy="662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19201" y="119275"/>
            <a:ext cx="2158258" cy="7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15641" y="2867800"/>
            <a:ext cx="113619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41" y="1536633"/>
            <a:ext cx="113619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1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2pPr>
            <a:lvl3pPr marL="1371600" lvl="2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3pPr>
            <a:lvl4pPr marL="1828800" lvl="3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4pPr>
            <a:lvl5pPr marL="2286000" lvl="4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5pPr>
            <a:lvl6pPr marL="2743200" lvl="5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6pPr>
            <a:lvl7pPr marL="3200400" lvl="6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7pPr>
            <a:lvl8pPr marL="3657600" lvl="7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8pPr>
            <a:lvl9pPr marL="4114800" lvl="8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15641" y="1536633"/>
            <a:ext cx="5333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1pPr>
            <a:lvl2pPr marL="914400" lvl="1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6443834" y="1536633"/>
            <a:ext cx="5333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1pPr>
            <a:lvl2pPr marL="914400" lvl="1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 sz="3733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415641" y="740800"/>
            <a:ext cx="37443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415641" y="1852800"/>
            <a:ext cx="37443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653731" y="600200"/>
            <a:ext cx="84912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6096600" y="-167"/>
            <a:ext cx="60966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354035" y="1644233"/>
            <a:ext cx="53940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354035" y="3737433"/>
            <a:ext cx="53940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6586648" y="965433"/>
            <a:ext cx="51165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1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2pPr>
            <a:lvl3pPr marL="1371600" lvl="2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3pPr>
            <a:lvl4pPr marL="1828800" lvl="3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4pPr>
            <a:lvl5pPr marL="2286000" lvl="4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5pPr>
            <a:lvl6pPr marL="2743200" lvl="5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6pPr>
            <a:lvl7pPr marL="3200400" lvl="6" indent="-347141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7pPr>
            <a:lvl8pPr marL="3657600" lvl="7" indent="-347141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8pPr>
            <a:lvl9pPr marL="4114800" lvl="8" indent="-347141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415641" y="5640767"/>
            <a:ext cx="79992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415641" y="1474833"/>
            <a:ext cx="113619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1"/>
              <a:buNone/>
              <a:defRPr sz="16001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415641" y="4202967"/>
            <a:ext cx="113619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1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47141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2pPr>
            <a:lvl3pPr marL="1371600" lvl="2" indent="-347141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3pPr>
            <a:lvl4pPr marL="1828800" lvl="3" indent="-347141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4pPr>
            <a:lvl5pPr marL="2286000" lvl="4" indent="-347141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5pPr>
            <a:lvl6pPr marL="2743200" lvl="5" indent="-347141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6pPr>
            <a:lvl7pPr marL="3200400" lvl="6" indent="-347141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6"/>
            </a:lvl7pPr>
            <a:lvl8pPr marL="3657600" lvl="7" indent="-347141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6"/>
            </a:lvl8pPr>
            <a:lvl9pPr marL="4114800" lvl="8" indent="-347141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6"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1"/>
            <a:ext cx="12193200" cy="6858000"/>
          </a:xfrm>
          <a:prstGeom prst="rect">
            <a:avLst/>
          </a:prstGeom>
          <a:solidFill>
            <a:srgbClr val="003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1932" y="1709738"/>
            <a:ext cx="105165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ontserrat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831932" y="4589463"/>
            <a:ext cx="105165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838283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4038997" y="6356350"/>
            <a:ext cx="411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611448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82" y="365125"/>
            <a:ext cx="10516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6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34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838282" y="1825625"/>
            <a:ext cx="105165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83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997" y="6356350"/>
            <a:ext cx="411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1448" y="6356350"/>
            <a:ext cx="2743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11804280" y="0"/>
            <a:ext cx="388883" cy="1980910"/>
          </a:xfrm>
          <a:custGeom>
            <a:avLst/>
            <a:gdLst/>
            <a:ahLst/>
            <a:cxnLst/>
            <a:rect l="l" t="t" r="r" b="b"/>
            <a:pathLst>
              <a:path w="388883" h="1980910" extrusionOk="0">
                <a:moveTo>
                  <a:pt x="0" y="0"/>
                </a:moveTo>
                <a:lnTo>
                  <a:pt x="388883" y="0"/>
                </a:lnTo>
                <a:lnTo>
                  <a:pt x="388883" y="1980910"/>
                </a:lnTo>
                <a:lnTo>
                  <a:pt x="338490" y="1975830"/>
                </a:lnTo>
                <a:cubicBezTo>
                  <a:pt x="145314" y="1936301"/>
                  <a:pt x="0" y="1765379"/>
                  <a:pt x="0" y="1560517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667263" y="6342881"/>
            <a:ext cx="6858000" cy="515119"/>
          </a:xfrm>
          <a:custGeom>
            <a:avLst/>
            <a:gdLst/>
            <a:ahLst/>
            <a:cxnLst/>
            <a:rect l="l" t="t" r="r" b="b"/>
            <a:pathLst>
              <a:path w="6858000" h="515119" extrusionOk="0">
                <a:moveTo>
                  <a:pt x="423926" y="0"/>
                </a:moveTo>
                <a:lnTo>
                  <a:pt x="6434074" y="0"/>
                </a:lnTo>
                <a:cubicBezTo>
                  <a:pt x="6668202" y="0"/>
                  <a:pt x="6858000" y="189798"/>
                  <a:pt x="6858000" y="423926"/>
                </a:cubicBezTo>
                <a:lnTo>
                  <a:pt x="6858000" y="515119"/>
                </a:lnTo>
                <a:lnTo>
                  <a:pt x="0" y="515119"/>
                </a:lnTo>
                <a:lnTo>
                  <a:pt x="0" y="423926"/>
                </a:lnTo>
                <a:cubicBezTo>
                  <a:pt x="0" y="189798"/>
                  <a:pt x="189798" y="0"/>
                  <a:pt x="423926" y="0"/>
                </a:cubicBezTo>
                <a:close/>
              </a:path>
            </a:pathLst>
          </a:custGeom>
          <a:solidFill>
            <a:srgbClr val="0035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41" y="593367"/>
            <a:ext cx="113619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3434"/>
              <a:buFont typeface="Montserrat"/>
              <a:buNone/>
              <a:defRPr sz="3433" b="1">
                <a:solidFill>
                  <a:srgbClr val="351C7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4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41" y="1536633"/>
            <a:ext cx="11361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1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venir"/>
              <a:buChar char="●"/>
              <a:defRPr sz="24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○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■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●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○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■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lvl="6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●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lvl="7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○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lvl="8" indent="-34714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Font typeface="Avenir"/>
              <a:buChar char="■"/>
              <a:defRPr sz="1866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7722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1802287" y="5814737"/>
            <a:ext cx="4294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strike="noStrike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EP </a:t>
            </a:r>
            <a:r>
              <a:rPr lang="es-419" sz="1600" b="1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INGENIERÍA</a:t>
            </a:r>
            <a:r>
              <a:rPr lang="es-419" sz="1600" b="1" strike="noStrike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s-419" sz="1600" b="1" dirty="0">
                <a:solidFill>
                  <a:srgbClr val="003567"/>
                </a:solidFill>
                <a:latin typeface="Avenir"/>
                <a:ea typeface="Avenir"/>
                <a:cs typeface="Avenir"/>
                <a:sym typeface="Avenir"/>
              </a:rPr>
              <a:t>DE SISTEMAS</a:t>
            </a:r>
            <a:endParaRPr sz="1600" b="1" strike="noStrike" dirty="0">
              <a:solidFill>
                <a:srgbClr val="003567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7664910" y="5923510"/>
            <a:ext cx="311400" cy="311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7976251" y="5918472"/>
            <a:ext cx="26199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>
                <a:solidFill>
                  <a:srgbClr val="003567"/>
                </a:solidFill>
                <a:latin typeface="Avenir"/>
                <a:sym typeface="Avenir"/>
              </a:rPr>
              <a:t>MG. NÉLIDA HUAMÁN PACO</a:t>
            </a:r>
            <a:endParaRPr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ctrTitle"/>
          </p:nvPr>
        </p:nvSpPr>
        <p:spPr>
          <a:xfrm>
            <a:off x="876300" y="1399139"/>
            <a:ext cx="10868025" cy="294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s-ES" sz="6000" dirty="0">
                <a:solidFill>
                  <a:srgbClr val="003567"/>
                </a:solidFill>
              </a:rPr>
              <a:t>Diagrama de clases UML</a:t>
            </a:r>
            <a:br>
              <a:rPr lang="es-ES" sz="800" b="0" i="0" dirty="0">
                <a:effectLst/>
                <a:latin typeface="Roboto" panose="02000000000000000000" pitchFamily="2" charset="0"/>
              </a:rPr>
            </a:br>
            <a:br>
              <a:rPr lang="es-ES" sz="2000" b="0" i="0" dirty="0">
                <a:effectLst/>
                <a:latin typeface="Roboto" panose="02000000000000000000" pitchFamily="2" charset="0"/>
              </a:rPr>
            </a:br>
            <a:endParaRPr lang="es-ES" sz="6000" b="0" i="0" u="none" strike="noStrike" cap="none" dirty="0">
              <a:solidFill>
                <a:srgbClr val="00356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1396110" y="5828385"/>
            <a:ext cx="311400" cy="311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72A344A-CEF5-4636-0447-AE30FCA39C9A}"/>
              </a:ext>
            </a:extLst>
          </p:cNvPr>
          <p:cNvSpPr txBox="1"/>
          <p:nvPr/>
        </p:nvSpPr>
        <p:spPr>
          <a:xfrm>
            <a:off x="3029437" y="4279747"/>
            <a:ext cx="61341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UNIDAD 2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Sesión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01</a:t>
            </a:r>
            <a:endParaRPr lang="en-US" sz="28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/>
          <p:nvPr/>
        </p:nvSpPr>
        <p:spPr>
          <a:xfrm>
            <a:off x="2650002" y="3105834"/>
            <a:ext cx="6893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EXPLICA</a:t>
            </a: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31" descr="Interfaz de usuario gráfica, Aplicación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l="4670" t="53458" r="76561" b="26591"/>
          <a:stretch/>
        </p:blipFill>
        <p:spPr>
          <a:xfrm>
            <a:off x="5434025" y="1550594"/>
            <a:ext cx="1325150" cy="1408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2282304" y="428780"/>
            <a:ext cx="6893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altLang="en-US" sz="3600" b="1" dirty="0">
                <a:solidFill>
                  <a:srgbClr val="003567"/>
                </a:solidFill>
                <a:latin typeface="Montserrat"/>
              </a:rPr>
              <a:t>¿</a:t>
            </a:r>
            <a:r>
              <a:rPr lang="en-US" altLang="en-US" sz="3600" b="1" dirty="0" err="1">
                <a:solidFill>
                  <a:srgbClr val="003567"/>
                </a:solidFill>
                <a:latin typeface="Montserrat"/>
              </a:rPr>
              <a:t>Qué</a:t>
            </a:r>
            <a:r>
              <a:rPr lang="en-US" altLang="en-US" sz="3600" b="1" dirty="0">
                <a:solidFill>
                  <a:srgbClr val="003567"/>
                </a:solidFill>
                <a:latin typeface="Montserrat"/>
              </a:rPr>
              <a:t> es UML?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C55AC-6F6A-F29F-C6D9-275D8AD7B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305" y="2505387"/>
            <a:ext cx="101465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7D10F87-3057-73B0-F860-2F77DBB87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401" y="1262321"/>
            <a:ext cx="1096917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significa: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Unified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Modeling Language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Lenguaje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Unificado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Modelado.Es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lenguaje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representar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gráficamente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antes de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programarlo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.Podemos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pensar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UML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plano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casa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Antes 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construir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casa,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hacemos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Antes 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complejo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podemos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2406129" y="104930"/>
            <a:ext cx="6893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Ejemplo</a:t>
            </a: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C55AC-6F6A-F29F-C6D9-275D8AD7B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096" y="824034"/>
            <a:ext cx="10428915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sz="2800" b="1" dirty="0"/>
          </a:p>
          <a:p>
            <a:pPr algn="just"/>
            <a:r>
              <a:rPr lang="es-ES" sz="2800" dirty="0"/>
              <a:t>Antes de programar un: </a:t>
            </a:r>
            <a:r>
              <a:rPr lang="es-ES" sz="2800" b="1" dirty="0"/>
              <a:t>Sistema de Biblioteca</a:t>
            </a:r>
            <a:endParaRPr lang="es-ES" sz="2800" dirty="0"/>
          </a:p>
          <a:p>
            <a:pPr algn="just"/>
            <a:r>
              <a:rPr lang="es-ES" sz="2800" dirty="0"/>
              <a:t>podemos analizar:</a:t>
            </a:r>
          </a:p>
          <a:p>
            <a:pPr algn="just"/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¿Qué objetos existen?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¿Qué información tiene cada objeto?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¿Qué acciones puede realizar?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¿Cómo se relacionan?</a:t>
            </a:r>
          </a:p>
          <a:p>
            <a:pPr algn="l"/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31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1888864" y="306225"/>
            <a:ext cx="8099946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¿Qué es un diagrama de clases?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C55AC-6F6A-F29F-C6D9-275D8AD7B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146" y="4684814"/>
            <a:ext cx="1042891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 sz="2800" b="1" dirty="0"/>
          </a:p>
          <a:p>
            <a:pPr algn="l"/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E7181D4-38C1-3FAE-F3E7-3362EE843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952425"/>
            <a:ext cx="1100137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diagrama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uno 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diagramas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UML.Permite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Atributos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Relaciones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palabras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sencillas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diagrama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muestra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qué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objetos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existen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nuestro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cómo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relacionan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ellos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6722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1888864" y="306225"/>
            <a:ext cx="8099946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¿Qué es un diagrama de clases?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92164F-1A24-114A-E00F-AF77DE55A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620" y="1356424"/>
            <a:ext cx="1019423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Antes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hablar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UML,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pensemos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real.Tenemos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Carlos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María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personas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.Entonces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podemos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clase: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,l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molde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 las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características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comportamientos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tendrán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objetos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61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1707889" y="306225"/>
            <a:ext cx="8099946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¿Qué es un OBJETO?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92164F-1A24-114A-E00F-AF77DE55A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620" y="2649085"/>
            <a:ext cx="101942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C37098-A535-EDEF-29F2-317B15C6D73F}"/>
              </a:ext>
            </a:extLst>
          </p:cNvPr>
          <p:cNvSpPr txBox="1"/>
          <p:nvPr/>
        </p:nvSpPr>
        <p:spPr>
          <a:xfrm>
            <a:off x="1406302" y="1367695"/>
            <a:ext cx="938098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Un objeto es una instancia de una </a:t>
            </a:r>
            <a:r>
              <a:rPr lang="es-ES" sz="2800" dirty="0" err="1"/>
              <a:t>clase.Por</a:t>
            </a:r>
            <a:r>
              <a:rPr lang="es-ES" sz="2800" dirty="0"/>
              <a:t> ejemplo:</a:t>
            </a:r>
          </a:p>
          <a:p>
            <a:endParaRPr lang="es-ES" sz="2800" dirty="0"/>
          </a:p>
          <a:p>
            <a:r>
              <a:rPr lang="es-ES" sz="2800" b="1" dirty="0"/>
              <a:t>CLASE: </a:t>
            </a:r>
            <a:r>
              <a:rPr lang="es-ES" sz="2800" dirty="0"/>
              <a:t>Persona</a:t>
            </a:r>
          </a:p>
          <a:p>
            <a:endParaRPr lang="es-ES" sz="2800" b="1" dirty="0"/>
          </a:p>
          <a:p>
            <a:r>
              <a:rPr lang="es-ES" sz="2800" b="1" dirty="0"/>
              <a:t>OBJETOS:</a:t>
            </a:r>
          </a:p>
          <a:p>
            <a:pPr marL="457200" indent="-457200">
              <a:buFontTx/>
              <a:buChar char="-"/>
            </a:pPr>
            <a:r>
              <a:rPr lang="es-ES" sz="2800" dirty="0"/>
              <a:t>Ana</a:t>
            </a:r>
          </a:p>
          <a:p>
            <a:pPr marL="457200" indent="-457200">
              <a:buFontTx/>
              <a:buChar char="-"/>
            </a:pPr>
            <a:r>
              <a:rPr lang="es-ES" sz="2800" dirty="0"/>
              <a:t>Carlos</a:t>
            </a:r>
          </a:p>
          <a:p>
            <a:pPr marL="457200" indent="-457200">
              <a:buFontTx/>
              <a:buChar char="-"/>
            </a:pPr>
            <a:r>
              <a:rPr lang="es-ES" sz="2800" dirty="0"/>
              <a:t>María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9051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630901" y="325275"/>
            <a:ext cx="10931786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¿Cómo se representa una clase en UML?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92164F-1A24-114A-E00F-AF77DE55A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620" y="2649085"/>
            <a:ext cx="101942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C37098-A535-EDEF-29F2-317B15C6D73F}"/>
              </a:ext>
            </a:extLst>
          </p:cNvPr>
          <p:cNvSpPr txBox="1"/>
          <p:nvPr/>
        </p:nvSpPr>
        <p:spPr>
          <a:xfrm>
            <a:off x="1406302" y="1367695"/>
            <a:ext cx="93809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Una clase se representa mediante un </a:t>
            </a:r>
            <a:r>
              <a:rPr lang="es-ES" sz="2400" b="1" dirty="0"/>
              <a:t>rectángulo dividido en tres partes</a:t>
            </a:r>
            <a:r>
              <a:rPr lang="es-ES" sz="2400" dirty="0"/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ED6E1C-6CC4-87C4-8228-CA25FC89E5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13"/>
          <a:stretch/>
        </p:blipFill>
        <p:spPr>
          <a:xfrm>
            <a:off x="1247775" y="2729790"/>
            <a:ext cx="2479852" cy="28518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3F92D8A-A269-6883-CBA4-4BD2186098FB}"/>
              </a:ext>
            </a:extLst>
          </p:cNvPr>
          <p:cNvSpPr txBox="1"/>
          <p:nvPr/>
        </p:nvSpPr>
        <p:spPr>
          <a:xfrm>
            <a:off x="4219574" y="2783925"/>
            <a:ext cx="692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Un atributo es una característica de una clase.</a:t>
            </a:r>
            <a:endParaRPr lang="en-U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7985935-4005-EB2E-6B7B-89D7DBD7AFB9}"/>
              </a:ext>
            </a:extLst>
          </p:cNvPr>
          <p:cNvSpPr txBox="1"/>
          <p:nvPr/>
        </p:nvSpPr>
        <p:spPr>
          <a:xfrm>
            <a:off x="4219575" y="3547451"/>
            <a:ext cx="762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Un método representa una </a:t>
            </a:r>
            <a:r>
              <a:rPr lang="es-ES" sz="2400" b="1" dirty="0"/>
              <a:t>acción que puede realizar el objeto</a:t>
            </a:r>
            <a:r>
              <a:rPr lang="es-ES" sz="2400" dirty="0"/>
              <a:t>.</a:t>
            </a:r>
            <a:endParaRPr lang="en-US" sz="2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007E988-FFC4-FDAE-323E-3201135EC692}"/>
              </a:ext>
            </a:extLst>
          </p:cNvPr>
          <p:cNvSpPr txBox="1"/>
          <p:nvPr/>
        </p:nvSpPr>
        <p:spPr>
          <a:xfrm>
            <a:off x="4981575" y="462123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+ = </a:t>
            </a:r>
            <a:r>
              <a:rPr lang="en-US" sz="2400" dirty="0" err="1"/>
              <a:t>público</a:t>
            </a:r>
            <a:endParaRPr lang="en-US" sz="2400" dirty="0"/>
          </a:p>
          <a:p>
            <a:r>
              <a:rPr lang="en-US" sz="2400" dirty="0"/>
              <a:t> - = privado</a:t>
            </a:r>
          </a:p>
          <a:p>
            <a:r>
              <a:rPr lang="en-US" sz="2400" dirty="0"/>
              <a:t>+ </a:t>
            </a:r>
            <a:r>
              <a:rPr lang="en-US" sz="2400" dirty="0" err="1"/>
              <a:t>estudiar</a:t>
            </a:r>
            <a:r>
              <a:rPr lang="en-US" sz="2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6654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630901" y="325275"/>
            <a:ext cx="10931786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dirty="0">
                <a:solidFill>
                  <a:srgbClr val="003567"/>
                </a:solidFill>
                <a:latin typeface="Montserrat"/>
                <a:ea typeface="Montserrat"/>
                <a:cs typeface="Montserrat"/>
                <a:sym typeface="Montserrat"/>
              </a:rPr>
              <a:t>Multiplicidad </a:t>
            </a:r>
            <a:endParaRPr sz="4000" dirty="0">
              <a:solidFill>
                <a:srgbClr val="00356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92164F-1A24-114A-E00F-AF77DE55A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620" y="2649085"/>
            <a:ext cx="101942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B34500D-3403-9FDC-A9D7-5BFC2814D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771" y="1402590"/>
            <a:ext cx="649374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La </a:t>
            </a:r>
            <a:r>
              <a:rPr lang="en-US" altLang="en-US" sz="2400" dirty="0" err="1"/>
              <a:t>multiplicidad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nos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permite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indicar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cuántos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objetos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participan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una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relación</a:t>
            </a:r>
            <a:r>
              <a:rPr lang="en-US" altLang="en-US" sz="24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/>
              <a:t>Por </a:t>
            </a:r>
            <a:r>
              <a:rPr lang="en-US" altLang="en-US" sz="2400" b="1" dirty="0" err="1"/>
              <a:t>ejemplo</a:t>
            </a:r>
            <a:r>
              <a:rPr lang="en-US" altLang="en-US" sz="2400" b="1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ESTUDIANTE 1 ───────── 0..* LIBRO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/>
              <a:t>Podemos </a:t>
            </a:r>
            <a:r>
              <a:rPr lang="en-US" altLang="en-US" sz="2400" b="1" dirty="0" err="1"/>
              <a:t>interpretarlo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como</a:t>
            </a:r>
            <a:r>
              <a:rPr lang="en-US" altLang="en-US" sz="2400" b="1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Un </a:t>
            </a:r>
            <a:r>
              <a:rPr lang="en-US" altLang="en-US" sz="2400" dirty="0" err="1"/>
              <a:t>estudiante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puede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solicitar</a:t>
            </a:r>
            <a:r>
              <a:rPr lang="en-US" altLang="en-US" sz="2400" dirty="0"/>
              <a:t> cero o </a:t>
            </a:r>
            <a:r>
              <a:rPr lang="en-US" altLang="en-US" sz="2400" dirty="0" err="1"/>
              <a:t>muchos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libros</a:t>
            </a:r>
            <a:r>
              <a:rPr lang="en-US" altLang="en-US" sz="24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A5C2F5F-AD76-AF9A-4556-8AE860C93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674" y="2649085"/>
            <a:ext cx="4359018" cy="23907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461B3D95-3897-9791-B684-760B90AF2351}"/>
              </a:ext>
            </a:extLst>
          </p:cNvPr>
          <p:cNvSpPr txBox="1"/>
          <p:nvPr/>
        </p:nvSpPr>
        <p:spPr>
          <a:xfrm>
            <a:off x="7078663" y="2187420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Los </a:t>
            </a:r>
            <a:r>
              <a:rPr lang="en-US" altLang="en-US" sz="2400" dirty="0" err="1"/>
              <a:t>símbolos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más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utilizados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2420600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347</Words>
  <Application>Microsoft Office PowerPoint</Application>
  <PresentationFormat>Personalizado</PresentationFormat>
  <Paragraphs>68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Montserrat</vt:lpstr>
      <vt:lpstr>Avenir</vt:lpstr>
      <vt:lpstr>Wingdings</vt:lpstr>
      <vt:lpstr>Roboto</vt:lpstr>
      <vt:lpstr>Arial</vt:lpstr>
      <vt:lpstr>Simple Light</vt:lpstr>
      <vt:lpstr>Diagrama de clases UML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Prácticas Pre Profesionales EP Sistemas - Juliaca</cp:lastModifiedBy>
  <cp:revision>98</cp:revision>
  <dcterms:modified xsi:type="dcterms:W3CDTF">2026-09-28T04:08:37Z</dcterms:modified>
</cp:coreProperties>
</file>