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8"/>
  </p:notesMasterIdLst>
  <p:sldIdLst>
    <p:sldId id="257" r:id="rId2"/>
    <p:sldId id="264" r:id="rId3"/>
    <p:sldId id="330" r:id="rId4"/>
    <p:sldId id="346" r:id="rId5"/>
    <p:sldId id="265" r:id="rId6"/>
    <p:sldId id="343" r:id="rId7"/>
    <p:sldId id="345" r:id="rId8"/>
    <p:sldId id="317" r:id="rId9"/>
    <p:sldId id="347" r:id="rId10"/>
    <p:sldId id="349" r:id="rId11"/>
    <p:sldId id="348" r:id="rId12"/>
    <p:sldId id="350" r:id="rId13"/>
    <p:sldId id="351" r:id="rId14"/>
    <p:sldId id="352" r:id="rId15"/>
    <p:sldId id="353" r:id="rId16"/>
    <p:sldId id="354" r:id="rId17"/>
  </p:sldIdLst>
  <p:sldSz cx="12193588" cy="6858000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B5CC6F-4D02-4986-BC5A-4B726585F33F}">
  <a:tblStyle styleId="{72B5CC6F-4D02-4986-BC5A-4B726585F33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0" d="100"/>
          <a:sy n="80" d="100"/>
        </p:scale>
        <p:origin x="61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d205803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c8d205803a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g3c8d205803a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8d205803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c8d205803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8d205803a_0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g3c8d205803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456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3103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8d205803a_0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g3c8d205803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8d205803a_0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g3c8d205803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1327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8d205803a_0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g3c8d205803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2989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8992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066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9643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3262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958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5642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5109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577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328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50" y="-42525"/>
            <a:ext cx="12267550" cy="69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026384" y="1744327"/>
            <a:ext cx="9139800" cy="2201700"/>
          </a:xfrm>
          <a:prstGeom prst="rect">
            <a:avLst/>
          </a:prstGeom>
        </p:spPr>
        <p:txBody>
          <a:bodyPr spcFirstLastPara="1" wrap="square" lIns="98050" tIns="98050" rIns="98050" bIns="98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5478"/>
              <a:buNone/>
              <a:defRPr sz="5477" b="1">
                <a:solidFill>
                  <a:srgbClr val="351C7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2pPr>
            <a:lvl3pPr lvl="2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3pPr>
            <a:lvl4pPr lvl="3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4pPr>
            <a:lvl5pPr lvl="4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5pPr>
            <a:lvl6pPr lvl="5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6pPr>
            <a:lvl7pPr lvl="6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7pPr>
            <a:lvl8pPr lvl="7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8pPr>
            <a:lvl9pPr lvl="8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026375" y="3985524"/>
            <a:ext cx="9139800" cy="850200"/>
          </a:xfrm>
          <a:prstGeom prst="rect">
            <a:avLst/>
          </a:prstGeom>
        </p:spPr>
        <p:txBody>
          <a:bodyPr spcFirstLastPara="1" wrap="square" lIns="98050" tIns="98050" rIns="98050" bIns="98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" y="119275"/>
            <a:ext cx="816600" cy="662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9201" y="119275"/>
            <a:ext cx="2158258" cy="7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15641" y="2867800"/>
            <a:ext cx="113619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113619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5333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6443834" y="1536633"/>
            <a:ext cx="5333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15641" y="740800"/>
            <a:ext cx="37443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15641" y="1852800"/>
            <a:ext cx="37443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53731" y="600200"/>
            <a:ext cx="84912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600" y="-167"/>
            <a:ext cx="60966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54035" y="1644233"/>
            <a:ext cx="53940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354035" y="3737433"/>
            <a:ext cx="53940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586648" y="965433"/>
            <a:ext cx="51165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1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15641" y="5640767"/>
            <a:ext cx="79992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415641" y="1474833"/>
            <a:ext cx="113619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15641" y="4202967"/>
            <a:ext cx="113619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"/>
            <a:ext cx="12193200" cy="6858000"/>
          </a:xfrm>
          <a:prstGeom prst="rect">
            <a:avLst/>
          </a:prstGeom>
          <a:solidFill>
            <a:srgbClr val="003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1932" y="1709738"/>
            <a:ext cx="105165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31932" y="4589463"/>
            <a:ext cx="105165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38283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4038997" y="6356350"/>
            <a:ext cx="41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611448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82" y="365125"/>
            <a:ext cx="10516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838282" y="1825625"/>
            <a:ext cx="10516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83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997" y="6356350"/>
            <a:ext cx="41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1448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1804280" y="0"/>
            <a:ext cx="388883" cy="1980910"/>
          </a:xfrm>
          <a:custGeom>
            <a:avLst/>
            <a:gdLst/>
            <a:ahLst/>
            <a:cxnLst/>
            <a:rect l="l" t="t" r="r" b="b"/>
            <a:pathLst>
              <a:path w="388883" h="1980910" extrusionOk="0">
                <a:moveTo>
                  <a:pt x="0" y="0"/>
                </a:moveTo>
                <a:lnTo>
                  <a:pt x="388883" y="0"/>
                </a:lnTo>
                <a:lnTo>
                  <a:pt x="388883" y="1980910"/>
                </a:lnTo>
                <a:lnTo>
                  <a:pt x="338490" y="1975830"/>
                </a:lnTo>
                <a:cubicBezTo>
                  <a:pt x="145314" y="1936301"/>
                  <a:pt x="0" y="1765379"/>
                  <a:pt x="0" y="156051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667263" y="6342881"/>
            <a:ext cx="6858000" cy="515119"/>
          </a:xfrm>
          <a:custGeom>
            <a:avLst/>
            <a:gdLst/>
            <a:ahLst/>
            <a:cxnLst/>
            <a:rect l="l" t="t" r="r" b="b"/>
            <a:pathLst>
              <a:path w="6858000" h="515119" extrusionOk="0">
                <a:moveTo>
                  <a:pt x="423926" y="0"/>
                </a:moveTo>
                <a:lnTo>
                  <a:pt x="6434074" y="0"/>
                </a:lnTo>
                <a:cubicBezTo>
                  <a:pt x="6668202" y="0"/>
                  <a:pt x="6858000" y="189798"/>
                  <a:pt x="6858000" y="423926"/>
                </a:cubicBezTo>
                <a:lnTo>
                  <a:pt x="6858000" y="515119"/>
                </a:lnTo>
                <a:lnTo>
                  <a:pt x="0" y="515119"/>
                </a:lnTo>
                <a:lnTo>
                  <a:pt x="0" y="423926"/>
                </a:lnTo>
                <a:cubicBezTo>
                  <a:pt x="0" y="189798"/>
                  <a:pt x="189798" y="0"/>
                  <a:pt x="423926" y="0"/>
                </a:cubicBezTo>
                <a:close/>
              </a:path>
            </a:pathLst>
          </a:custGeom>
          <a:solidFill>
            <a:srgbClr val="003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3434"/>
              <a:buFont typeface="Montserrat"/>
              <a:buNone/>
              <a:defRPr sz="3433" b="1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11361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venir"/>
              <a:buChar char="●"/>
              <a:defRPr sz="24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●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lvl="6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●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lvl="7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lvl="8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1802287" y="5814737"/>
            <a:ext cx="429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strike="noStrike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EP </a:t>
            </a:r>
            <a:r>
              <a:rPr lang="es-419" sz="1600" b="1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INGENIERÍA</a:t>
            </a:r>
            <a:r>
              <a:rPr lang="es-419" sz="1600" b="1" strike="noStrike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s-419" sz="1600" b="1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DE SISTEMAS</a:t>
            </a:r>
            <a:endParaRPr sz="1600" b="1" strike="noStrike" dirty="0">
              <a:solidFill>
                <a:srgbClr val="00356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7664910" y="5923510"/>
            <a:ext cx="311400" cy="311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976251" y="5918472"/>
            <a:ext cx="26199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3567"/>
                </a:solidFill>
                <a:latin typeface="Avenir"/>
                <a:sym typeface="Avenir"/>
              </a:rPr>
              <a:t>MG. NÉLIDA HUAMÁN PACO</a:t>
            </a:r>
            <a:endParaRPr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ctrTitle"/>
          </p:nvPr>
        </p:nvSpPr>
        <p:spPr>
          <a:xfrm>
            <a:off x="466725" y="2241302"/>
            <a:ext cx="12401550" cy="312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s-ES" sz="4800" dirty="0">
                <a:solidFill>
                  <a:srgbClr val="003567"/>
                </a:solidFill>
              </a:rPr>
              <a:t> </a:t>
            </a:r>
            <a:r>
              <a:rPr lang="en-US" sz="4800" dirty="0" err="1">
                <a:solidFill>
                  <a:srgbClr val="003567"/>
                </a:solidFill>
              </a:rPr>
              <a:t>Diagramas</a:t>
            </a:r>
            <a:r>
              <a:rPr lang="en-US" sz="4800" dirty="0">
                <a:solidFill>
                  <a:srgbClr val="003567"/>
                </a:solidFill>
              </a:rPr>
              <a:t> </a:t>
            </a:r>
            <a:r>
              <a:rPr lang="en-US" sz="4800" dirty="0" err="1">
                <a:solidFill>
                  <a:srgbClr val="003567"/>
                </a:solidFill>
              </a:rPr>
              <a:t>Dinámicos</a:t>
            </a:r>
            <a:r>
              <a:rPr lang="en-US" sz="4800" dirty="0">
                <a:solidFill>
                  <a:srgbClr val="003567"/>
                </a:solidFill>
              </a:rPr>
              <a:t> UML</a:t>
            </a:r>
            <a:br>
              <a:rPr lang="en-US" sz="1400" b="0" i="0" dirty="0">
                <a:effectLst/>
                <a:latin typeface="Roboto" panose="02000000000000000000" pitchFamily="2" charset="0"/>
              </a:rPr>
            </a:br>
            <a:br>
              <a:rPr lang="es-ES" sz="4800" dirty="0">
                <a:solidFill>
                  <a:srgbClr val="003567"/>
                </a:solidFill>
              </a:rPr>
            </a:br>
            <a:br>
              <a:rPr lang="es-ES" sz="800" b="0" i="0" dirty="0">
                <a:effectLst/>
                <a:latin typeface="Roboto" panose="02000000000000000000" pitchFamily="2" charset="0"/>
              </a:rPr>
            </a:br>
            <a:br>
              <a:rPr lang="es-ES" sz="800" b="0" i="0" dirty="0">
                <a:effectLst/>
                <a:latin typeface="Roboto" panose="02000000000000000000" pitchFamily="2" charset="0"/>
              </a:rPr>
            </a:br>
            <a:br>
              <a:rPr lang="es-ES" sz="2000" b="0" i="0" dirty="0">
                <a:effectLst/>
                <a:latin typeface="Roboto" panose="02000000000000000000" pitchFamily="2" charset="0"/>
              </a:rPr>
            </a:br>
            <a:endParaRPr lang="es-ES" sz="6000" b="0" i="0" u="none" strike="noStrike" cap="none" dirty="0">
              <a:solidFill>
                <a:srgbClr val="00356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396110" y="5828385"/>
            <a:ext cx="311400" cy="311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2A344A-CEF5-4636-0447-AE30FCA39C9A}"/>
              </a:ext>
            </a:extLst>
          </p:cNvPr>
          <p:cNvSpPr txBox="1"/>
          <p:nvPr/>
        </p:nvSpPr>
        <p:spPr>
          <a:xfrm>
            <a:off x="3258037" y="3734726"/>
            <a:ext cx="61341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UNIDAD 2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Sesión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4</a:t>
            </a:r>
            <a:endParaRPr lang="en-US" sz="28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2402324" y="3105834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PROPÓSITO DE SESIÓN</a:t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7" descr="Interfaz de usuario gráfica, Aplicación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l="52794" t="53642" r="28437" b="26407"/>
          <a:stretch/>
        </p:blipFill>
        <p:spPr>
          <a:xfrm>
            <a:off x="5234129" y="1524000"/>
            <a:ext cx="1325150" cy="140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643015" y="975777"/>
            <a:ext cx="1060331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2400" b="0" i="0" dirty="0">
                <a:effectLst/>
                <a:latin typeface="Roboto" panose="02000000000000000000" pitchFamily="2" charset="0"/>
              </a:rPr>
              <a:t>Catálogo de diagramas dinámicos del escenario "registrar una venta" de </a:t>
            </a:r>
            <a:r>
              <a:rPr lang="es-ES" sz="2400" b="0" i="0" dirty="0" err="1">
                <a:effectLst/>
                <a:latin typeface="Roboto" panose="02000000000000000000" pitchFamily="2" charset="0"/>
              </a:rPr>
              <a:t>BomERP</a:t>
            </a:r>
            <a:r>
              <a:rPr lang="es-ES" sz="2400" b="0" i="0" dirty="0">
                <a:effectLst/>
                <a:latin typeface="Roboto" panose="02000000000000000000" pitchFamily="2" charset="0"/>
              </a:rPr>
              <a:t>: la decisión documentada de qué operaciones de </a:t>
            </a:r>
            <a:r>
              <a:rPr lang="es-ES" sz="2400" b="0" i="0" dirty="0" err="1">
                <a:effectLst/>
                <a:latin typeface="Roboto" panose="02000000000000000000" pitchFamily="2" charset="0"/>
              </a:rPr>
              <a:t>VentaController</a:t>
            </a:r>
            <a:r>
              <a:rPr lang="es-ES" sz="2400" b="0" i="0" dirty="0">
                <a:effectLst/>
                <a:latin typeface="Roboto" panose="02000000000000000000" pitchFamily="2" charset="0"/>
              </a:rPr>
              <a:t> sí necesitan un diagrama dinámico y cuáles no, con su justificación; diagrama de secuencia de la operación elegida (crear) con los casos alternativos de error (producto inexistente, stock insuficiente); diagrama de actividades equivalente organizado por carriles (</a:t>
            </a:r>
            <a:r>
              <a:rPr lang="es-ES" sz="2400" b="0" i="0" dirty="0" err="1">
                <a:effectLst/>
                <a:latin typeface="Roboto" panose="02000000000000000000" pitchFamily="2" charset="0"/>
              </a:rPr>
              <a:t>swimlanes</a:t>
            </a:r>
            <a:r>
              <a:rPr lang="es-ES" sz="2400" b="0" i="0" dirty="0">
                <a:effectLst/>
                <a:latin typeface="Roboto" panose="02000000000000000000" pitchFamily="2" charset="0"/>
              </a:rPr>
              <a:t>); diagrama de ciclo de vida de Venta (con sus estados diseñados desde S7, y la brecha real frente a S8/LP2 identificada); diagrama de interacción entre los componentes ventas y catalogo para el mismo escenario, a nivel C3; diagrama de comunicación de la misma colaboración del diagrama de secuencia; y una matriz de consistencia que cruza cada mensaje contra las fichas de clase de S8.</a:t>
            </a:r>
            <a:endParaRPr lang="es-ES" sz="24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2221377" y="247384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Producto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de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sesión</a:t>
            </a:r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algn="ctr"/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8905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2168004" y="234592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Ubicación del Curso</a:t>
            </a:r>
            <a:endParaRPr lang="es-ES"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C55AC-6F6A-F29F-C6D9-275D8AD7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850" y="828288"/>
            <a:ext cx="9507184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 panose="02000000000000000000" pitchFamily="2" charset="0"/>
              </a:rPr>
              <a:t>Producto del curso: </a:t>
            </a:r>
            <a:r>
              <a:rPr lang="es-ES" sz="2800" b="0" i="0" dirty="0">
                <a:effectLst/>
                <a:latin typeface="Roboto" panose="02000000000000000000" pitchFamily="2" charset="0"/>
              </a:rPr>
              <a:t>Diseño Técnico Profesional Documentado.</a:t>
            </a:r>
          </a:p>
          <a:p>
            <a:pPr algn="l"/>
            <a:endParaRPr lang="es-ES" sz="2800" b="0" i="0" dirty="0"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 panose="02000000000000000000" pitchFamily="2" charset="0"/>
              </a:rPr>
              <a:t>Producto de unidad: </a:t>
            </a:r>
            <a:r>
              <a:rPr lang="es-ES" sz="2800" b="0" i="0" dirty="0">
                <a:effectLst/>
                <a:latin typeface="Roboto" panose="02000000000000000000" pitchFamily="2" charset="0"/>
              </a:rPr>
              <a:t>Catálogo UML con patrones de diseño e integración aplicados.</a:t>
            </a:r>
          </a:p>
          <a:p>
            <a:pPr algn="l"/>
            <a:endParaRPr lang="es-ES" sz="2800" b="0" i="0" dirty="0">
              <a:effectLst/>
              <a:latin typeface="Roboto" panose="02000000000000000000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 panose="02000000000000000000" pitchFamily="2" charset="0"/>
              </a:rPr>
              <a:t>Avance del producto en esta sesión: </a:t>
            </a:r>
            <a:r>
              <a:rPr lang="es-ES" sz="2800" b="0" i="0" dirty="0">
                <a:effectLst/>
                <a:latin typeface="Roboto" panose="02000000000000000000" pitchFamily="2" charset="0"/>
              </a:rPr>
              <a:t>diagramas dinámicos (secuencia, actividades, ciclo de vida, interacción entre componentes, comunicación) de un escenario crítico de un módulo, verificados contra las clases y fichas de S8.</a:t>
            </a:r>
          </a:p>
          <a:p>
            <a:pPr algn="l"/>
            <a:endParaRPr lang="es-ES" sz="2400" b="0" i="0" dirty="0">
              <a:effectLst/>
              <a:latin typeface="Roboto" panose="020000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D8DA10-9532-5159-E490-4FC7470F6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351" y="0"/>
            <a:ext cx="2484335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5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209351" y="382557"/>
            <a:ext cx="11544499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s-ES" sz="2400" dirty="0"/>
          </a:p>
          <a:p>
            <a:pPr algn="just"/>
            <a:r>
              <a:rPr lang="es-ES" sz="2400" dirty="0"/>
              <a:t>Los Diagramas Dinámicos UML son dibujos que permiten representar cómo funciona un sistema a lo largo del tiempo, es decir, cómo interactúan los usuarios, los objetos y los componentes para realizar una </a:t>
            </a:r>
            <a:r>
              <a:rPr lang="es-ES" sz="2400" dirty="0" err="1"/>
              <a:t>acción.Te</a:t>
            </a:r>
            <a:r>
              <a:rPr lang="es-ES" sz="2400" dirty="0"/>
              <a:t> lo explicaré de forma sencilla, como para entenderlo desde cero.</a:t>
            </a:r>
          </a:p>
          <a:p>
            <a:pPr algn="just"/>
            <a:endParaRPr lang="es-ES" sz="2400" dirty="0"/>
          </a:p>
          <a:p>
            <a:r>
              <a:rPr lang="es-ES" sz="2400" b="1" dirty="0"/>
              <a:t>1. ¿Qué significa «dinámico»?</a:t>
            </a:r>
          </a:p>
          <a:p>
            <a:r>
              <a:rPr lang="es-ES" sz="2400" dirty="0"/>
              <a:t>Imagina que estás desarrollando un sistema de ventas para una tienda.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Un cliente selecciona un producto.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El sistema verifica el precio.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El cliente realiza el pago.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El sistema registra la venta.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Se genera un comprobante.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r>
              <a:rPr lang="es-ES" sz="2400" dirty="0"/>
              <a:t>Los diagramas dinámicos UML permiten representar ese comportamiento y el orden en que ocurren las acciones.</a:t>
            </a:r>
          </a:p>
          <a:p>
            <a:pPr algn="just"/>
            <a:endParaRPr lang="es-ES" sz="24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2316627" y="104509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Presentacion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de la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sesion</a:t>
            </a:r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726410" y="1784366"/>
            <a:ext cx="348300" cy="3477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1229240" y="391796"/>
            <a:ext cx="9487921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s-ES" sz="3600" b="1" dirty="0">
                <a:solidFill>
                  <a:srgbClr val="003567"/>
                </a:solidFill>
                <a:latin typeface="Montserrat"/>
              </a:rPr>
              <a:t>¿Cuáles son los principales diagramas dinámicos UML?</a:t>
            </a:r>
            <a:endParaRPr lang="en-US" sz="3600" b="1" dirty="0">
              <a:solidFill>
                <a:srgbClr val="003567"/>
              </a:solidFill>
              <a:latin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2C93A1-BAA1-8E2D-B013-BC6131E67597}"/>
              </a:ext>
            </a:extLst>
          </p:cNvPr>
          <p:cNvSpPr txBox="1"/>
          <p:nvPr/>
        </p:nvSpPr>
        <p:spPr>
          <a:xfrm>
            <a:off x="1229239" y="1784366"/>
            <a:ext cx="10018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Diagrama de secuencia: </a:t>
            </a:r>
            <a:r>
              <a:rPr lang="es-ES" sz="2000" dirty="0"/>
              <a:t>Muestra quién se comunica con quién y en qué orden. Ejemplo: el usuario solicita registrar una venta, el sistema valida los datos y guarda la información.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03C166-1817-1E7B-4AE4-C145E95B8B30}"/>
              </a:ext>
            </a:extLst>
          </p:cNvPr>
          <p:cNvSpPr txBox="1"/>
          <p:nvPr/>
        </p:nvSpPr>
        <p:spPr>
          <a:xfrm>
            <a:off x="1229239" y="2921168"/>
            <a:ext cx="10018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Diagrama de </a:t>
            </a:r>
            <a:r>
              <a:rPr lang="es-ES" sz="2000" b="1" dirty="0" err="1"/>
              <a:t>actividades:</a:t>
            </a:r>
            <a:r>
              <a:rPr lang="es-ES" sz="2000" dirty="0" err="1"/>
              <a:t>Muestra</a:t>
            </a:r>
            <a:r>
              <a:rPr lang="es-ES" sz="2000" dirty="0"/>
              <a:t> los pasos de un proceso y las decisiones que se </a:t>
            </a:r>
            <a:r>
              <a:rPr lang="es-ES" sz="2000" dirty="0" err="1"/>
              <a:t>toman.Ejemplo</a:t>
            </a:r>
            <a:r>
              <a:rPr lang="es-ES" sz="2000" dirty="0"/>
              <a:t>: verificar si hay stock; si hay, continuar con la venta; si no hay, informar que el producto está agotado.</a:t>
            </a:r>
          </a:p>
        </p:txBody>
      </p:sp>
      <p:sp>
        <p:nvSpPr>
          <p:cNvPr id="13" name="Google Shape;175;p28">
            <a:extLst>
              <a:ext uri="{FF2B5EF4-FFF2-40B4-BE49-F238E27FC236}">
                <a16:creationId xmlns:a16="http://schemas.microsoft.com/office/drawing/2014/main" id="{53A62712-8C2D-4C04-72FC-28243240A0A3}"/>
              </a:ext>
            </a:extLst>
          </p:cNvPr>
          <p:cNvSpPr/>
          <p:nvPr/>
        </p:nvSpPr>
        <p:spPr>
          <a:xfrm>
            <a:off x="726410" y="2921168"/>
            <a:ext cx="348300" cy="3477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" name="Google Shape;175;p28">
            <a:extLst>
              <a:ext uri="{FF2B5EF4-FFF2-40B4-BE49-F238E27FC236}">
                <a16:creationId xmlns:a16="http://schemas.microsoft.com/office/drawing/2014/main" id="{B74996FC-533D-ECD2-43EE-836092DE2B4F}"/>
              </a:ext>
            </a:extLst>
          </p:cNvPr>
          <p:cNvSpPr/>
          <p:nvPr/>
        </p:nvSpPr>
        <p:spPr>
          <a:xfrm>
            <a:off x="726410" y="4057970"/>
            <a:ext cx="348300" cy="3477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32E6CF-F7B7-6D91-594D-47465D908BD2}"/>
              </a:ext>
            </a:extLst>
          </p:cNvPr>
          <p:cNvSpPr txBox="1"/>
          <p:nvPr/>
        </p:nvSpPr>
        <p:spPr>
          <a:xfrm>
            <a:off x="1229239" y="4057970"/>
            <a:ext cx="10018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Diagrama de estados: </a:t>
            </a:r>
            <a:r>
              <a:rPr lang="es-ES" sz="2000" dirty="0"/>
              <a:t>Muestra los estados por los que pasa un objeto durante su </a:t>
            </a:r>
            <a:r>
              <a:rPr lang="es-ES" sz="2000" dirty="0" err="1"/>
              <a:t>vida.Ejemplo</a:t>
            </a:r>
            <a:r>
              <a:rPr lang="es-ES" sz="2000" dirty="0"/>
              <a:t>: un pedido puede estar pendiente, pagado, enviado o entregado.</a:t>
            </a:r>
          </a:p>
        </p:txBody>
      </p:sp>
    </p:spTree>
    <p:extLst>
      <p:ext uri="{BB962C8B-B14F-4D97-AF65-F5344CB8AC3E}">
        <p14:creationId xmlns:p14="http://schemas.microsoft.com/office/powerpoint/2010/main" val="36414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295380" y="684034"/>
            <a:ext cx="11183243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2800" dirty="0"/>
              <a:t>La sesión S9 trata de aprender a representar cómo funciona un sistema mientras está ejecutándose.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Para entenderlo, imagina que estás desarrollando un sistema de ventas para una tienda. El sistema permite registrar productos, consultar precios, verificar el stock y registrar una venta.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En la sesión anterior, S8, aprendiste a representar las clases que tiene el sistema y cómo se relacionan. Ahora, en S9, vas a representar cómo colaboran esas clases para realizar una operación.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S8 te dice qué piezas tiene el sistema; S9 te explica cómo trabajan esas piezas para completar una tarea.</a:t>
            </a:r>
          </a:p>
        </p:txBody>
      </p:sp>
      <p:sp>
        <p:nvSpPr>
          <p:cNvPr id="177" name="Google Shape;177;p28"/>
          <p:cNvSpPr/>
          <p:nvPr/>
        </p:nvSpPr>
        <p:spPr>
          <a:xfrm>
            <a:off x="2440451" y="0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¿De qué trata esta sesión?</a:t>
            </a:r>
          </a:p>
          <a:p>
            <a:pPr algn="ctr"/>
            <a:r>
              <a:rPr lang="en-US" sz="3600" b="1" dirty="0">
                <a:solidFill>
                  <a:srgbClr val="003567"/>
                </a:solidFill>
                <a:latin typeface="Montserrat"/>
              </a:rPr>
              <a:t>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63233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3792600" y="5577137"/>
            <a:ext cx="90345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tx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928290" y="139344"/>
            <a:ext cx="97382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¿Qué significan las clases que aparecen en la sesión?</a:t>
            </a:r>
          </a:p>
          <a:p>
            <a:pPr algn="just"/>
            <a:r>
              <a:rPr lang="es-ES" sz="1800" dirty="0"/>
              <a:t>Antes de entender los diagramas, necesitas conocer los participantes. No te preocupes: no son cinco sistemas distintos, sino cinco clases que tienen responsabilidades diferentes.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5A2793-C498-EE0E-68FE-DEA21782CC31}"/>
              </a:ext>
            </a:extLst>
          </p:cNvPr>
          <p:cNvSpPr txBox="1"/>
          <p:nvPr/>
        </p:nvSpPr>
        <p:spPr>
          <a:xfrm>
            <a:off x="628909" y="2087375"/>
            <a:ext cx="103370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s-ES" sz="1800" b="1" dirty="0" err="1"/>
              <a:t>VentaController</a:t>
            </a:r>
            <a:r>
              <a:rPr lang="es-ES" sz="1800" b="1" dirty="0"/>
              <a:t>: </a:t>
            </a:r>
            <a:r>
              <a:rPr lang="es-ES" sz="1800" dirty="0"/>
              <a:t>Recibe la petición del vendedor. Por ejemplo, cuando este envía la solicitud para registrar una venta.</a:t>
            </a:r>
          </a:p>
          <a:p>
            <a:pPr algn="just"/>
            <a:endParaRPr lang="es-ES" sz="1800" dirty="0"/>
          </a:p>
          <a:p>
            <a:pPr algn="just"/>
            <a:r>
              <a:rPr lang="es-ES" sz="1800" b="1" dirty="0"/>
              <a:t>2. </a:t>
            </a:r>
            <a:r>
              <a:rPr lang="es-ES" sz="1800" b="1" dirty="0" err="1"/>
              <a:t>VentaServiceImpl</a:t>
            </a:r>
            <a:r>
              <a:rPr lang="es-ES" sz="1800" b="1" dirty="0"/>
              <a:t>: </a:t>
            </a:r>
            <a:r>
              <a:rPr lang="es-ES" sz="1800" dirty="0"/>
              <a:t>Es quien coordina la operación. Comprueba los productos, solicita el descuento del stock y organiza el registro de la venta.</a:t>
            </a:r>
          </a:p>
          <a:p>
            <a:pPr algn="just"/>
            <a:endParaRPr lang="es-ES" sz="1800" dirty="0"/>
          </a:p>
          <a:p>
            <a:pPr algn="just"/>
            <a:r>
              <a:rPr lang="es-ES" sz="1800" dirty="0"/>
              <a:t>3. </a:t>
            </a:r>
            <a:r>
              <a:rPr lang="es-ES" sz="1800" b="1" dirty="0" err="1"/>
              <a:t>ProductoService</a:t>
            </a:r>
            <a:r>
              <a:rPr lang="es-ES" sz="1800" b="1" dirty="0"/>
              <a:t>: </a:t>
            </a:r>
            <a:r>
              <a:rPr lang="es-ES" sz="1800" dirty="0"/>
              <a:t>Pertenece al módulo de catálogo. Busca los productos y permite gestionar su stock.</a:t>
            </a:r>
          </a:p>
          <a:p>
            <a:pPr algn="just"/>
            <a:endParaRPr lang="es-ES" sz="1800" dirty="0"/>
          </a:p>
          <a:p>
            <a:pPr algn="just"/>
            <a:r>
              <a:rPr lang="es-ES" sz="1800" b="1" dirty="0"/>
              <a:t>4. </a:t>
            </a:r>
            <a:r>
              <a:rPr lang="es-ES" sz="1800" b="1" dirty="0" err="1"/>
              <a:t>VentaRepository</a:t>
            </a:r>
            <a:r>
              <a:rPr lang="es-ES" sz="1800" b="1" dirty="0"/>
              <a:t>: </a:t>
            </a:r>
            <a:r>
              <a:rPr lang="es-ES" sz="1800" dirty="0"/>
              <a:t>Se encarga de las operaciones de persistencia de las ventas, como guardarlas en la base de datos.</a:t>
            </a:r>
          </a:p>
          <a:p>
            <a:pPr algn="just"/>
            <a:endParaRPr lang="es-ES" sz="1800" dirty="0"/>
          </a:p>
          <a:p>
            <a:pPr algn="just"/>
            <a:r>
              <a:rPr lang="es-ES" sz="1800" b="1" dirty="0"/>
              <a:t>5. </a:t>
            </a:r>
            <a:r>
              <a:rPr lang="es-ES" sz="1800" b="1" dirty="0" err="1"/>
              <a:t>VentaMapper</a:t>
            </a:r>
            <a:r>
              <a:rPr lang="es-ES" sz="1800" b="1" dirty="0"/>
              <a:t>: </a:t>
            </a:r>
            <a:r>
              <a:rPr lang="es-ES" sz="1800" dirty="0"/>
              <a:t>Convierte los datos entre los objetos que usa el sistema internamente y los formatos utilizados para recibir o responder solicitudes.</a:t>
            </a:r>
          </a:p>
        </p:txBody>
      </p:sp>
    </p:spTree>
    <p:extLst>
      <p:ext uri="{BB962C8B-B14F-4D97-AF65-F5344CB8AC3E}">
        <p14:creationId xmlns:p14="http://schemas.microsoft.com/office/powerpoint/2010/main" val="2485896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928290" y="139344"/>
            <a:ext cx="97382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Diagrama de secuencia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B17CC-90F3-853A-F51B-33297A670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33" y="1093321"/>
            <a:ext cx="1119125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UML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secuencia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formal,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aparecen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arriba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líneas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verticales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líneas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Los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dibujan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flechas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arriba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abajo.Hay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no.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repetición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cinco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comprobaciones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línea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Este diagrama responde</a:t>
            </a:r>
            <a:r>
              <a:rPr lang="es-E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:¿Qué objeto participa primero, a quién llama y qué ocurre después?</a:t>
            </a: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10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928290" y="139344"/>
            <a:ext cx="97382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Diagrama de secuencia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D5F0E4-7F3F-9C13-52CE-501DE049A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600" y="914182"/>
            <a:ext cx="6782388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9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1F59E10-1D07-E15E-2FD4-A8796B1C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3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8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833040" y="82194"/>
            <a:ext cx="97382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Diagrama 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de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actividades</a:t>
            </a:r>
            <a:endParaRPr lang="es-ES" sz="3600" b="1" dirty="0">
              <a:solidFill>
                <a:srgbClr val="003567"/>
              </a:solidFill>
              <a:latin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E6BA2E-C75C-C926-3848-0D4130C10336}"/>
              </a:ext>
            </a:extLst>
          </p:cNvPr>
          <p:cNvSpPr txBox="1"/>
          <p:nvPr/>
        </p:nvSpPr>
        <p:spPr>
          <a:xfrm>
            <a:off x="201475" y="866238"/>
            <a:ext cx="11523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Este diagrama muestra el proceso completo mediante actividades, flechas y rombos de </a:t>
            </a:r>
            <a:r>
              <a:rPr lang="es-ES" sz="2000" dirty="0" err="1"/>
              <a:t>decisión.Es</a:t>
            </a:r>
            <a:r>
              <a:rPr lang="es-ES" sz="2000" dirty="0"/>
              <a:t> como elaborar un flujograma.</a:t>
            </a:r>
          </a:p>
          <a:p>
            <a:r>
              <a:rPr lang="es-ES" sz="2000" dirty="0"/>
              <a:t>La diferencia con el diagrama de secuencia es importante:</a:t>
            </a:r>
          </a:p>
          <a:p>
            <a:endParaRPr lang="es-E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En el diagrama de secuencia, ves qué clase envía cada mensaje.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En el diagrama de actividades, ves qué pasos se realizan y qué decisión determina el siguiente paso.</a:t>
            </a:r>
          </a:p>
          <a:p>
            <a:r>
              <a:rPr lang="es-ES" sz="2000" dirty="0"/>
              <a:t>¿Qué son los carriles (</a:t>
            </a:r>
            <a:r>
              <a:rPr lang="es-ES" sz="2000" dirty="0" err="1"/>
              <a:t>swimlanes</a:t>
            </a:r>
            <a:r>
              <a:rPr lang="es-ES" sz="2000" dirty="0"/>
              <a:t>)?</a:t>
            </a:r>
          </a:p>
          <a:p>
            <a:pPr algn="just"/>
            <a:r>
              <a:rPr lang="es-ES" sz="2000" dirty="0"/>
              <a:t>Los carriles son divisiones que indican quién realiza cada actividad.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87430073-A305-8563-B4BF-DFB64E4BC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876461"/>
              </p:ext>
            </p:extLst>
          </p:nvPr>
        </p:nvGraphicFramePr>
        <p:xfrm>
          <a:off x="1129465" y="4556847"/>
          <a:ext cx="11361738" cy="1828800"/>
        </p:xfrm>
        <a:graphic>
          <a:graphicData uri="http://schemas.openxmlformats.org/drawingml/2006/table">
            <a:tbl>
              <a:tblPr/>
              <a:tblGrid>
                <a:gridCol w="5680869">
                  <a:extLst>
                    <a:ext uri="{9D8B030D-6E8A-4147-A177-3AD203B41FA5}">
                      <a16:colId xmlns:a16="http://schemas.microsoft.com/office/drawing/2014/main" val="2865571661"/>
                    </a:ext>
                  </a:extLst>
                </a:gridCol>
                <a:gridCol w="5680869">
                  <a:extLst>
                    <a:ext uri="{9D8B030D-6E8A-4147-A177-3AD203B41FA5}">
                      <a16:colId xmlns:a16="http://schemas.microsoft.com/office/drawing/2014/main" val="3790596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 dirty="0" err="1"/>
                        <a:t>Carril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/>
                        <a:t>Responsabilidad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46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 dirty="0" err="1"/>
                        <a:t>Vendedor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/>
                        <a:t>Envía la solicitud.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40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 dirty="0" err="1"/>
                        <a:t>VentaController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s-ES" sz="1800"/>
                        <a:t>Recibe y valida la petición.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90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/>
                        <a:t>VentaServiceImpl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s-ES" sz="1800"/>
                        <a:t>Coordina el proceso de venta.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523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/>
                        <a:t>ProductoService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s-ES" sz="1800" dirty="0"/>
                        <a:t>Busca el producto y gestiona el stock.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149874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C73DF815-698F-DB69-A8E6-2544C3FC9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75" y="3661885"/>
            <a:ext cx="99901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quién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paso.</a:t>
            </a:r>
          </a:p>
        </p:txBody>
      </p:sp>
    </p:spTree>
    <p:extLst>
      <p:ext uri="{BB962C8B-B14F-4D97-AF65-F5344CB8AC3E}">
        <p14:creationId xmlns:p14="http://schemas.microsoft.com/office/powerpoint/2010/main" val="216107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F507E3D-2B9D-1CA1-1C21-242AF2D23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906" y="401743"/>
            <a:ext cx="7752844" cy="57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76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A77ABC-795F-AB70-0D7F-31C245AB0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3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29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833040" y="82194"/>
            <a:ext cx="97382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ES" sz="3600" b="1" dirty="0">
                <a:solidFill>
                  <a:srgbClr val="003567"/>
                </a:solidFill>
                <a:latin typeface="Montserrat"/>
              </a:rPr>
              <a:t>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Diagrama</a:t>
            </a:r>
            <a:r>
              <a:rPr lang="en-US" sz="3600" b="1" dirty="0">
                <a:solidFill>
                  <a:srgbClr val="003567"/>
                </a:solidFill>
                <a:latin typeface="Montserrat"/>
              </a:rPr>
              <a:t> de </a:t>
            </a:r>
            <a:r>
              <a:rPr lang="en-US" sz="3600" b="1" dirty="0" err="1">
                <a:solidFill>
                  <a:srgbClr val="003567"/>
                </a:solidFill>
                <a:latin typeface="Montserrat"/>
              </a:rPr>
              <a:t>estados</a:t>
            </a:r>
            <a:endParaRPr lang="es-ES" sz="3600" b="1" dirty="0">
              <a:solidFill>
                <a:srgbClr val="003567"/>
              </a:solidFill>
              <a:latin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E6BA2E-C75C-C926-3848-0D4130C10336}"/>
              </a:ext>
            </a:extLst>
          </p:cNvPr>
          <p:cNvSpPr txBox="1"/>
          <p:nvPr/>
        </p:nvSpPr>
        <p:spPr>
          <a:xfrm>
            <a:off x="201475" y="866238"/>
            <a:ext cx="11523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Este diagrama es diferente de los dos anteriores porque se centra en un objeto y sus estados. En el ejemplo, una venta puede pasar por estos estados.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EAF8CF-8424-C0E6-BD3A-5A29061CCFA2}"/>
              </a:ext>
            </a:extLst>
          </p:cNvPr>
          <p:cNvSpPr txBox="1"/>
          <p:nvPr/>
        </p:nvSpPr>
        <p:spPr>
          <a:xfrm>
            <a:off x="933449" y="1925507"/>
            <a:ext cx="101155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¿Por qué es importante?</a:t>
            </a:r>
          </a:p>
          <a:p>
            <a:r>
              <a:rPr lang="es-ES" sz="2000" dirty="0"/>
              <a:t>Porque el comportamiento puede depender del estado:</a:t>
            </a:r>
          </a:p>
          <a:p>
            <a:endParaRPr lang="es-E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Una venta registrada puede anularse si se cumplen las reglas.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Una venta anulada no debería volver automáticamente a registrada.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000" dirty="0"/>
              <a:t>Al anular la venta, el diseño de dominio indica que debe restaurarse el stock correspondiente.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E9D211-D2FA-346D-3C40-783B87CF61D7}"/>
              </a:ext>
            </a:extLst>
          </p:cNvPr>
          <p:cNvSpPr txBox="1"/>
          <p:nvPr/>
        </p:nvSpPr>
        <p:spPr>
          <a:xfrm>
            <a:off x="1257299" y="4678918"/>
            <a:ext cx="94678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No todos los objetos necesitan un diagrama de estados. Tiene sentido cuando el objeto cambia entre estados y esos cambios afectan lo que el sistema permite hacer.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904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0BAFE94-2C92-A1A0-F634-C4971B34C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34" y="109436"/>
            <a:ext cx="5483865" cy="59914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8343831-5828-43BD-DB36-B2A635D16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242" y="1558156"/>
            <a:ext cx="2232853" cy="30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886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1115</Words>
  <Application>Microsoft Office PowerPoint</Application>
  <PresentationFormat>Personalizado</PresentationFormat>
  <Paragraphs>93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Avenir</vt:lpstr>
      <vt:lpstr>Arial</vt:lpstr>
      <vt:lpstr>Wingdings</vt:lpstr>
      <vt:lpstr>Roboto</vt:lpstr>
      <vt:lpstr>Montserrat</vt:lpstr>
      <vt:lpstr>Arial Unicode MS</vt:lpstr>
      <vt:lpstr>Simple Light</vt:lpstr>
      <vt:lpstr> Diagramas Dinámicos UML  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Prácticas Pre Profesionales EP Sistemas - Juliaca</cp:lastModifiedBy>
  <cp:revision>115</cp:revision>
  <dcterms:modified xsi:type="dcterms:W3CDTF">2026-10-12T11:34:32Z</dcterms:modified>
</cp:coreProperties>
</file>